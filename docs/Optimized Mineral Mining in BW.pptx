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72"/>
    <p:restoredTop sz="94700"/>
  </p:normalViewPr>
  <p:slideViewPr>
    <p:cSldViewPr snapToGrid="0">
      <p:cViewPr varScale="1">
        <p:scale>
          <a:sx n="156" d="100"/>
          <a:sy n="156" d="100"/>
        </p:scale>
        <p:origin x="696" y="4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9D2E93-05A4-4743-B48A-CB597D53B17D}" type="datetimeFigureOut">
              <a:rPr lang="en-DK" smtClean="0"/>
              <a:t>19/06/2026</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05BBA-41ED-964C-B2BD-55C97D4008AE}" type="slidenum">
              <a:rPr lang="en-DK" smtClean="0"/>
              <a:t>‹#›</a:t>
            </a:fld>
            <a:endParaRPr lang="en-DK"/>
          </a:p>
        </p:txBody>
      </p:sp>
    </p:spTree>
    <p:extLst>
      <p:ext uri="{BB962C8B-B14F-4D97-AF65-F5344CB8AC3E}">
        <p14:creationId xmlns:p14="http://schemas.microsoft.com/office/powerpoint/2010/main" val="3814859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6DC05BBA-41ED-964C-B2BD-55C97D4008AE}" type="slidenum">
              <a:rPr lang="en-DK" smtClean="0"/>
              <a:t>1</a:t>
            </a:fld>
            <a:endParaRPr lang="en-DK"/>
          </a:p>
        </p:txBody>
      </p:sp>
    </p:spTree>
    <p:extLst>
      <p:ext uri="{BB962C8B-B14F-4D97-AF65-F5344CB8AC3E}">
        <p14:creationId xmlns:p14="http://schemas.microsoft.com/office/powerpoint/2010/main" val="498546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err="1"/>
              <a:t>github.com</a:t>
            </a:r>
            <a:r>
              <a:rPr lang="en-GB" dirty="0"/>
              <a:t>/</a:t>
            </a:r>
            <a:r>
              <a:rPr lang="en-GB" dirty="0" err="1"/>
              <a:t>OpenBW</a:t>
            </a:r>
            <a:r>
              <a:rPr lang="en-GB" dirty="0"/>
              <a:t>/</a:t>
            </a:r>
            <a:r>
              <a:rPr lang="en-GB" dirty="0" err="1"/>
              <a:t>openbw</a:t>
            </a:r>
            <a:r>
              <a:rPr lang="en-GB" dirty="0"/>
              <a:t>/blob/master/bwgame.h#L7754-L7758</a:t>
            </a:r>
          </a:p>
          <a:p>
            <a:r>
              <a:rPr lang="en-GB" dirty="0"/>
              <a:t>Demo normal collection showing order process timer</a:t>
            </a:r>
            <a:endParaRPr lang="en-DK" dirty="0"/>
          </a:p>
        </p:txBody>
      </p:sp>
      <p:sp>
        <p:nvSpPr>
          <p:cNvPr id="4" name="Slide Number Placeholder 3"/>
          <p:cNvSpPr>
            <a:spLocks noGrp="1"/>
          </p:cNvSpPr>
          <p:nvPr>
            <p:ph type="sldNum" sz="quarter" idx="5"/>
          </p:nvPr>
        </p:nvSpPr>
        <p:spPr/>
        <p:txBody>
          <a:bodyPr/>
          <a:lstStyle/>
          <a:p>
            <a:fld id="{6DC05BBA-41ED-964C-B2BD-55C97D4008AE}" type="slidenum">
              <a:rPr lang="en-DK" smtClean="0"/>
              <a:t>3</a:t>
            </a:fld>
            <a:endParaRPr lang="en-DK"/>
          </a:p>
        </p:txBody>
      </p:sp>
    </p:spTree>
    <p:extLst>
      <p:ext uri="{BB962C8B-B14F-4D97-AF65-F5344CB8AC3E}">
        <p14:creationId xmlns:p14="http://schemas.microsoft.com/office/powerpoint/2010/main" val="308148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err="1"/>
              <a:t>github.com</a:t>
            </a:r>
            <a:r>
              <a:rPr lang="en-GB" dirty="0"/>
              <a:t>/</a:t>
            </a:r>
            <a:r>
              <a:rPr lang="en-GB" dirty="0" err="1"/>
              <a:t>OpenBW</a:t>
            </a:r>
            <a:r>
              <a:rPr lang="en-GB" dirty="0"/>
              <a:t>/</a:t>
            </a:r>
            <a:r>
              <a:rPr lang="en-GB" dirty="0" err="1"/>
              <a:t>openbw</a:t>
            </a:r>
            <a:r>
              <a:rPr lang="en-GB" dirty="0"/>
              <a:t>/blob/master/bwgame.h#L12874-L12883</a:t>
            </a:r>
          </a:p>
          <a:p>
            <a:r>
              <a:rPr lang="en-GB" dirty="0"/>
              <a:t>Demos of different timings</a:t>
            </a:r>
            <a:endParaRPr lang="en-DK" dirty="0"/>
          </a:p>
        </p:txBody>
      </p:sp>
      <p:sp>
        <p:nvSpPr>
          <p:cNvPr id="4" name="Slide Number Placeholder 3"/>
          <p:cNvSpPr>
            <a:spLocks noGrp="1"/>
          </p:cNvSpPr>
          <p:nvPr>
            <p:ph type="sldNum" sz="quarter" idx="5"/>
          </p:nvPr>
        </p:nvSpPr>
        <p:spPr/>
        <p:txBody>
          <a:bodyPr/>
          <a:lstStyle/>
          <a:p>
            <a:fld id="{6DC05BBA-41ED-964C-B2BD-55C97D4008AE}" type="slidenum">
              <a:rPr lang="en-DK" smtClean="0"/>
              <a:t>4</a:t>
            </a:fld>
            <a:endParaRPr lang="en-DK"/>
          </a:p>
        </p:txBody>
      </p:sp>
    </p:spTree>
    <p:extLst>
      <p:ext uri="{BB962C8B-B14F-4D97-AF65-F5344CB8AC3E}">
        <p14:creationId xmlns:p14="http://schemas.microsoft.com/office/powerpoint/2010/main" val="1650661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Demo a normal resend event</a:t>
            </a:r>
          </a:p>
        </p:txBody>
      </p:sp>
      <p:sp>
        <p:nvSpPr>
          <p:cNvPr id="4" name="Slide Number Placeholder 3"/>
          <p:cNvSpPr>
            <a:spLocks noGrp="1"/>
          </p:cNvSpPr>
          <p:nvPr>
            <p:ph type="sldNum" sz="quarter" idx="5"/>
          </p:nvPr>
        </p:nvSpPr>
        <p:spPr/>
        <p:txBody>
          <a:bodyPr/>
          <a:lstStyle/>
          <a:p>
            <a:fld id="{6DC05BBA-41ED-964C-B2BD-55C97D4008AE}" type="slidenum">
              <a:rPr lang="en-DK" smtClean="0"/>
              <a:t>5</a:t>
            </a:fld>
            <a:endParaRPr lang="en-DK"/>
          </a:p>
        </p:txBody>
      </p:sp>
    </p:spTree>
    <p:extLst>
      <p:ext uri="{BB962C8B-B14F-4D97-AF65-F5344CB8AC3E}">
        <p14:creationId xmlns:p14="http://schemas.microsoft.com/office/powerpoint/2010/main" val="22986494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Demo a normal resend event</a:t>
            </a:r>
          </a:p>
        </p:txBody>
      </p:sp>
      <p:sp>
        <p:nvSpPr>
          <p:cNvPr id="4" name="Slide Number Placeholder 3"/>
          <p:cNvSpPr>
            <a:spLocks noGrp="1"/>
          </p:cNvSpPr>
          <p:nvPr>
            <p:ph type="sldNum" sz="quarter" idx="5"/>
          </p:nvPr>
        </p:nvSpPr>
        <p:spPr/>
        <p:txBody>
          <a:bodyPr/>
          <a:lstStyle/>
          <a:p>
            <a:fld id="{6DC05BBA-41ED-964C-B2BD-55C97D4008AE}" type="slidenum">
              <a:rPr lang="en-DK" smtClean="0"/>
              <a:t>6</a:t>
            </a:fld>
            <a:endParaRPr lang="en-DK"/>
          </a:p>
        </p:txBody>
      </p:sp>
    </p:spTree>
    <p:extLst>
      <p:ext uri="{BB962C8B-B14F-4D97-AF65-F5344CB8AC3E}">
        <p14:creationId xmlns:p14="http://schemas.microsoft.com/office/powerpoint/2010/main" val="3956430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Demo a collision</a:t>
            </a:r>
          </a:p>
        </p:txBody>
      </p:sp>
      <p:sp>
        <p:nvSpPr>
          <p:cNvPr id="4" name="Slide Number Placeholder 3"/>
          <p:cNvSpPr>
            <a:spLocks noGrp="1"/>
          </p:cNvSpPr>
          <p:nvPr>
            <p:ph type="sldNum" sz="quarter" idx="5"/>
          </p:nvPr>
        </p:nvSpPr>
        <p:spPr/>
        <p:txBody>
          <a:bodyPr/>
          <a:lstStyle/>
          <a:p>
            <a:fld id="{6DC05BBA-41ED-964C-B2BD-55C97D4008AE}" type="slidenum">
              <a:rPr lang="en-DK" smtClean="0"/>
              <a:t>8</a:t>
            </a:fld>
            <a:endParaRPr lang="en-DK"/>
          </a:p>
        </p:txBody>
      </p:sp>
    </p:spTree>
    <p:extLst>
      <p:ext uri="{BB962C8B-B14F-4D97-AF65-F5344CB8AC3E}">
        <p14:creationId xmlns:p14="http://schemas.microsoft.com/office/powerpoint/2010/main" val="8133698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Demo delivery with and without order process timer 0 at center and corner</a:t>
            </a:r>
          </a:p>
        </p:txBody>
      </p:sp>
      <p:sp>
        <p:nvSpPr>
          <p:cNvPr id="4" name="Slide Number Placeholder 3"/>
          <p:cNvSpPr>
            <a:spLocks noGrp="1"/>
          </p:cNvSpPr>
          <p:nvPr>
            <p:ph type="sldNum" sz="quarter" idx="5"/>
          </p:nvPr>
        </p:nvSpPr>
        <p:spPr/>
        <p:txBody>
          <a:bodyPr/>
          <a:lstStyle/>
          <a:p>
            <a:fld id="{6DC05BBA-41ED-964C-B2BD-55C97D4008AE}" type="slidenum">
              <a:rPr lang="en-DK" smtClean="0"/>
              <a:t>9</a:t>
            </a:fld>
            <a:endParaRPr lang="en-DK"/>
          </a:p>
        </p:txBody>
      </p:sp>
    </p:spTree>
    <p:extLst>
      <p:ext uri="{BB962C8B-B14F-4D97-AF65-F5344CB8AC3E}">
        <p14:creationId xmlns:p14="http://schemas.microsoft.com/office/powerpoint/2010/main" val="1216140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Demo a patch switch</a:t>
            </a:r>
          </a:p>
        </p:txBody>
      </p:sp>
      <p:sp>
        <p:nvSpPr>
          <p:cNvPr id="4" name="Slide Number Placeholder 3"/>
          <p:cNvSpPr>
            <a:spLocks noGrp="1"/>
          </p:cNvSpPr>
          <p:nvPr>
            <p:ph type="sldNum" sz="quarter" idx="5"/>
          </p:nvPr>
        </p:nvSpPr>
        <p:spPr/>
        <p:txBody>
          <a:bodyPr/>
          <a:lstStyle/>
          <a:p>
            <a:fld id="{6DC05BBA-41ED-964C-B2BD-55C97D4008AE}" type="slidenum">
              <a:rPr lang="en-DK" smtClean="0"/>
              <a:t>10</a:t>
            </a:fld>
            <a:endParaRPr lang="en-DK"/>
          </a:p>
        </p:txBody>
      </p:sp>
    </p:spTree>
    <p:extLst>
      <p:ext uri="{BB962C8B-B14F-4D97-AF65-F5344CB8AC3E}">
        <p14:creationId xmlns:p14="http://schemas.microsoft.com/office/powerpoint/2010/main" val="258637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Demo takeover on the optimal frame and failure to do so depending on order in the list</a:t>
            </a:r>
          </a:p>
        </p:txBody>
      </p:sp>
      <p:sp>
        <p:nvSpPr>
          <p:cNvPr id="4" name="Slide Number Placeholder 3"/>
          <p:cNvSpPr>
            <a:spLocks noGrp="1"/>
          </p:cNvSpPr>
          <p:nvPr>
            <p:ph type="sldNum" sz="quarter" idx="5"/>
          </p:nvPr>
        </p:nvSpPr>
        <p:spPr/>
        <p:txBody>
          <a:bodyPr/>
          <a:lstStyle/>
          <a:p>
            <a:fld id="{6DC05BBA-41ED-964C-B2BD-55C97D4008AE}" type="slidenum">
              <a:rPr lang="en-DK" smtClean="0"/>
              <a:t>11</a:t>
            </a:fld>
            <a:endParaRPr lang="en-DK"/>
          </a:p>
        </p:txBody>
      </p:sp>
    </p:spTree>
    <p:extLst>
      <p:ext uri="{BB962C8B-B14F-4D97-AF65-F5344CB8AC3E}">
        <p14:creationId xmlns:p14="http://schemas.microsoft.com/office/powerpoint/2010/main" val="2053968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K" dirty="0"/>
              <a:t>Demo patch lock</a:t>
            </a:r>
          </a:p>
        </p:txBody>
      </p:sp>
      <p:sp>
        <p:nvSpPr>
          <p:cNvPr id="4" name="Slide Number Placeholder 3"/>
          <p:cNvSpPr>
            <a:spLocks noGrp="1"/>
          </p:cNvSpPr>
          <p:nvPr>
            <p:ph type="sldNum" sz="quarter" idx="5"/>
          </p:nvPr>
        </p:nvSpPr>
        <p:spPr/>
        <p:txBody>
          <a:bodyPr/>
          <a:lstStyle/>
          <a:p>
            <a:fld id="{6DC05BBA-41ED-964C-B2BD-55C97D4008AE}" type="slidenum">
              <a:rPr lang="en-DK" smtClean="0"/>
              <a:t>12</a:t>
            </a:fld>
            <a:endParaRPr lang="en-DK"/>
          </a:p>
        </p:txBody>
      </p:sp>
    </p:spTree>
    <p:extLst>
      <p:ext uri="{BB962C8B-B14F-4D97-AF65-F5344CB8AC3E}">
        <p14:creationId xmlns:p14="http://schemas.microsoft.com/office/powerpoint/2010/main" val="2523876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a:t>
            </a:r>
            <a:r>
              <a:rPr lang="en-GB" dirty="0" err="1"/>
              <a:t>github.com</a:t>
            </a:r>
            <a:r>
              <a:rPr lang="en-GB" dirty="0"/>
              <a:t>/</a:t>
            </a:r>
            <a:r>
              <a:rPr lang="en-GB" dirty="0" err="1"/>
              <a:t>OpenBW</a:t>
            </a:r>
            <a:r>
              <a:rPr lang="en-GB" dirty="0"/>
              <a:t>/</a:t>
            </a:r>
            <a:r>
              <a:rPr lang="en-GB" dirty="0" err="1"/>
              <a:t>openbw</a:t>
            </a:r>
            <a:r>
              <a:rPr lang="en-GB" dirty="0"/>
              <a:t>/blob/master/bwgame.h#L12875-L12884</a:t>
            </a:r>
          </a:p>
          <a:p>
            <a:endParaRPr lang="en-DK" dirty="0"/>
          </a:p>
        </p:txBody>
      </p:sp>
      <p:sp>
        <p:nvSpPr>
          <p:cNvPr id="4" name="Slide Number Placeholder 3"/>
          <p:cNvSpPr>
            <a:spLocks noGrp="1"/>
          </p:cNvSpPr>
          <p:nvPr>
            <p:ph type="sldNum" sz="quarter" idx="5"/>
          </p:nvPr>
        </p:nvSpPr>
        <p:spPr/>
        <p:txBody>
          <a:bodyPr/>
          <a:lstStyle/>
          <a:p>
            <a:fld id="{6DC05BBA-41ED-964C-B2BD-55C97D4008AE}" type="slidenum">
              <a:rPr lang="en-DK" smtClean="0"/>
              <a:t>14</a:t>
            </a:fld>
            <a:endParaRPr lang="en-DK"/>
          </a:p>
        </p:txBody>
      </p:sp>
    </p:spTree>
    <p:extLst>
      <p:ext uri="{BB962C8B-B14F-4D97-AF65-F5344CB8AC3E}">
        <p14:creationId xmlns:p14="http://schemas.microsoft.com/office/powerpoint/2010/main" val="2916883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10DA9-4215-FFAE-BD3D-59386174174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DK"/>
          </a:p>
        </p:txBody>
      </p:sp>
      <p:sp>
        <p:nvSpPr>
          <p:cNvPr id="3" name="Subtitle 2">
            <a:extLst>
              <a:ext uri="{FF2B5EF4-FFF2-40B4-BE49-F238E27FC236}">
                <a16:creationId xmlns:a16="http://schemas.microsoft.com/office/drawing/2014/main" id="{142DE853-C934-A9F3-FBD0-FEF505957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DK"/>
          </a:p>
        </p:txBody>
      </p:sp>
      <p:sp>
        <p:nvSpPr>
          <p:cNvPr id="4" name="Date Placeholder 3">
            <a:extLst>
              <a:ext uri="{FF2B5EF4-FFF2-40B4-BE49-F238E27FC236}">
                <a16:creationId xmlns:a16="http://schemas.microsoft.com/office/drawing/2014/main" id="{A711A289-17A5-820B-EB87-9414C80486A2}"/>
              </a:ext>
            </a:extLst>
          </p:cNvPr>
          <p:cNvSpPr>
            <a:spLocks noGrp="1"/>
          </p:cNvSpPr>
          <p:nvPr>
            <p:ph type="dt" sz="half" idx="10"/>
          </p:nvPr>
        </p:nvSpPr>
        <p:spPr/>
        <p:txBody>
          <a:bodyPr/>
          <a:lstStyle/>
          <a:p>
            <a:fld id="{5163A87F-D551-FE43-A18B-AF35669601BE}" type="datetimeFigureOut">
              <a:rPr lang="en-DK" smtClean="0"/>
              <a:t>19/06/2026</a:t>
            </a:fld>
            <a:endParaRPr lang="en-DK"/>
          </a:p>
        </p:txBody>
      </p:sp>
      <p:sp>
        <p:nvSpPr>
          <p:cNvPr id="5" name="Footer Placeholder 4">
            <a:extLst>
              <a:ext uri="{FF2B5EF4-FFF2-40B4-BE49-F238E27FC236}">
                <a16:creationId xmlns:a16="http://schemas.microsoft.com/office/drawing/2014/main" id="{75DC4F75-F226-2BC4-A47B-3A53CED8FE41}"/>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94745579-77AF-8EFC-9DF8-8062C8A84F91}"/>
              </a:ext>
            </a:extLst>
          </p:cNvPr>
          <p:cNvSpPr>
            <a:spLocks noGrp="1"/>
          </p:cNvSpPr>
          <p:nvPr>
            <p:ph type="sldNum" sz="quarter" idx="12"/>
          </p:nvPr>
        </p:nvSpPr>
        <p:spPr/>
        <p:txBody>
          <a:bodyPr/>
          <a:lstStyle/>
          <a:p>
            <a:fld id="{4420DDCF-53C7-FC41-81EB-F4DA7191D0F5}" type="slidenum">
              <a:rPr lang="en-DK" smtClean="0"/>
              <a:t>‹#›</a:t>
            </a:fld>
            <a:endParaRPr lang="en-DK"/>
          </a:p>
        </p:txBody>
      </p:sp>
    </p:spTree>
    <p:extLst>
      <p:ext uri="{BB962C8B-B14F-4D97-AF65-F5344CB8AC3E}">
        <p14:creationId xmlns:p14="http://schemas.microsoft.com/office/powerpoint/2010/main" val="3572029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D7FB0-1A92-6388-0D15-5318EC1B9B17}"/>
              </a:ext>
            </a:extLst>
          </p:cNvPr>
          <p:cNvSpPr>
            <a:spLocks noGrp="1"/>
          </p:cNvSpPr>
          <p:nvPr>
            <p:ph type="title"/>
          </p:nvPr>
        </p:nvSpPr>
        <p:spPr/>
        <p:txBody>
          <a:bodyPr/>
          <a:lstStyle/>
          <a:p>
            <a:r>
              <a:rPr lang="en-GB"/>
              <a:t>Click to edit Master title style</a:t>
            </a:r>
            <a:endParaRPr lang="en-DK"/>
          </a:p>
        </p:txBody>
      </p:sp>
      <p:sp>
        <p:nvSpPr>
          <p:cNvPr id="3" name="Content Placeholder 2">
            <a:extLst>
              <a:ext uri="{FF2B5EF4-FFF2-40B4-BE49-F238E27FC236}">
                <a16:creationId xmlns:a16="http://schemas.microsoft.com/office/drawing/2014/main" id="{E03292FB-6919-F948-977A-23DE35117A7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Date Placeholder 3">
            <a:extLst>
              <a:ext uri="{FF2B5EF4-FFF2-40B4-BE49-F238E27FC236}">
                <a16:creationId xmlns:a16="http://schemas.microsoft.com/office/drawing/2014/main" id="{C107DB9E-F9C7-D363-5055-5585226F472A}"/>
              </a:ext>
            </a:extLst>
          </p:cNvPr>
          <p:cNvSpPr>
            <a:spLocks noGrp="1"/>
          </p:cNvSpPr>
          <p:nvPr>
            <p:ph type="dt" sz="half" idx="10"/>
          </p:nvPr>
        </p:nvSpPr>
        <p:spPr/>
        <p:txBody>
          <a:bodyPr/>
          <a:lstStyle/>
          <a:p>
            <a:fld id="{5163A87F-D551-FE43-A18B-AF35669601BE}" type="datetimeFigureOut">
              <a:rPr lang="en-DK" smtClean="0"/>
              <a:t>19/06/2026</a:t>
            </a:fld>
            <a:endParaRPr lang="en-DK"/>
          </a:p>
        </p:txBody>
      </p:sp>
      <p:sp>
        <p:nvSpPr>
          <p:cNvPr id="5" name="Footer Placeholder 4">
            <a:extLst>
              <a:ext uri="{FF2B5EF4-FFF2-40B4-BE49-F238E27FC236}">
                <a16:creationId xmlns:a16="http://schemas.microsoft.com/office/drawing/2014/main" id="{FAD3FA0F-C193-C925-2D75-C8514A0A4E21}"/>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CE8A67F8-C924-C712-38C0-F79507199FEC}"/>
              </a:ext>
            </a:extLst>
          </p:cNvPr>
          <p:cNvSpPr>
            <a:spLocks noGrp="1"/>
          </p:cNvSpPr>
          <p:nvPr>
            <p:ph type="sldNum" sz="quarter" idx="12"/>
          </p:nvPr>
        </p:nvSpPr>
        <p:spPr/>
        <p:txBody>
          <a:bodyPr/>
          <a:lstStyle/>
          <a:p>
            <a:fld id="{4420DDCF-53C7-FC41-81EB-F4DA7191D0F5}" type="slidenum">
              <a:rPr lang="en-DK" smtClean="0"/>
              <a:t>‹#›</a:t>
            </a:fld>
            <a:endParaRPr lang="en-DK"/>
          </a:p>
        </p:txBody>
      </p:sp>
    </p:spTree>
    <p:extLst>
      <p:ext uri="{BB962C8B-B14F-4D97-AF65-F5344CB8AC3E}">
        <p14:creationId xmlns:p14="http://schemas.microsoft.com/office/powerpoint/2010/main" val="2506312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2D0D0-A9B5-733D-5318-D424352C9EB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DK"/>
          </a:p>
        </p:txBody>
      </p:sp>
      <p:sp>
        <p:nvSpPr>
          <p:cNvPr id="3" name="Text Placeholder 2">
            <a:extLst>
              <a:ext uri="{FF2B5EF4-FFF2-40B4-BE49-F238E27FC236}">
                <a16:creationId xmlns:a16="http://schemas.microsoft.com/office/drawing/2014/main" id="{198DC5D8-F052-1C0F-4DB5-6FAA7F9E220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3ADC289-E420-F1AA-3021-C2224094300B}"/>
              </a:ext>
            </a:extLst>
          </p:cNvPr>
          <p:cNvSpPr>
            <a:spLocks noGrp="1"/>
          </p:cNvSpPr>
          <p:nvPr>
            <p:ph type="dt" sz="half" idx="10"/>
          </p:nvPr>
        </p:nvSpPr>
        <p:spPr/>
        <p:txBody>
          <a:bodyPr/>
          <a:lstStyle/>
          <a:p>
            <a:fld id="{5163A87F-D551-FE43-A18B-AF35669601BE}" type="datetimeFigureOut">
              <a:rPr lang="en-DK" smtClean="0"/>
              <a:t>19/06/2026</a:t>
            </a:fld>
            <a:endParaRPr lang="en-DK"/>
          </a:p>
        </p:txBody>
      </p:sp>
      <p:sp>
        <p:nvSpPr>
          <p:cNvPr id="5" name="Footer Placeholder 4">
            <a:extLst>
              <a:ext uri="{FF2B5EF4-FFF2-40B4-BE49-F238E27FC236}">
                <a16:creationId xmlns:a16="http://schemas.microsoft.com/office/drawing/2014/main" id="{B705CF7A-7D02-D43C-B47C-5E94490AF543}"/>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AC5A8056-F5C8-1E8B-B495-AD3C7FBE8218}"/>
              </a:ext>
            </a:extLst>
          </p:cNvPr>
          <p:cNvSpPr>
            <a:spLocks noGrp="1"/>
          </p:cNvSpPr>
          <p:nvPr>
            <p:ph type="sldNum" sz="quarter" idx="12"/>
          </p:nvPr>
        </p:nvSpPr>
        <p:spPr/>
        <p:txBody>
          <a:bodyPr/>
          <a:lstStyle/>
          <a:p>
            <a:fld id="{4420DDCF-53C7-FC41-81EB-F4DA7191D0F5}" type="slidenum">
              <a:rPr lang="en-DK" smtClean="0"/>
              <a:t>‹#›</a:t>
            </a:fld>
            <a:endParaRPr lang="en-DK"/>
          </a:p>
        </p:txBody>
      </p:sp>
    </p:spTree>
    <p:extLst>
      <p:ext uri="{BB962C8B-B14F-4D97-AF65-F5344CB8AC3E}">
        <p14:creationId xmlns:p14="http://schemas.microsoft.com/office/powerpoint/2010/main" val="5051772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33F8C-DBEE-4225-E4EA-73BC52CA530E}"/>
              </a:ext>
            </a:extLst>
          </p:cNvPr>
          <p:cNvSpPr>
            <a:spLocks noGrp="1"/>
          </p:cNvSpPr>
          <p:nvPr>
            <p:ph type="title"/>
          </p:nvPr>
        </p:nvSpPr>
        <p:spPr/>
        <p:txBody>
          <a:bodyPr/>
          <a:lstStyle/>
          <a:p>
            <a:r>
              <a:rPr lang="en-GB"/>
              <a:t>Click to edit Master title style</a:t>
            </a:r>
            <a:endParaRPr lang="en-DK"/>
          </a:p>
        </p:txBody>
      </p:sp>
      <p:sp>
        <p:nvSpPr>
          <p:cNvPr id="3" name="Content Placeholder 2">
            <a:extLst>
              <a:ext uri="{FF2B5EF4-FFF2-40B4-BE49-F238E27FC236}">
                <a16:creationId xmlns:a16="http://schemas.microsoft.com/office/drawing/2014/main" id="{6F234009-0AF1-F04B-E06F-A33CA054774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Content Placeholder 3">
            <a:extLst>
              <a:ext uri="{FF2B5EF4-FFF2-40B4-BE49-F238E27FC236}">
                <a16:creationId xmlns:a16="http://schemas.microsoft.com/office/drawing/2014/main" id="{3A0D3C17-8C98-8536-2C5B-E78F8CD225F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5" name="Date Placeholder 4">
            <a:extLst>
              <a:ext uri="{FF2B5EF4-FFF2-40B4-BE49-F238E27FC236}">
                <a16:creationId xmlns:a16="http://schemas.microsoft.com/office/drawing/2014/main" id="{AF2D6227-9EFE-35C8-C353-E9383779B161}"/>
              </a:ext>
            </a:extLst>
          </p:cNvPr>
          <p:cNvSpPr>
            <a:spLocks noGrp="1"/>
          </p:cNvSpPr>
          <p:nvPr>
            <p:ph type="dt" sz="half" idx="10"/>
          </p:nvPr>
        </p:nvSpPr>
        <p:spPr/>
        <p:txBody>
          <a:bodyPr/>
          <a:lstStyle/>
          <a:p>
            <a:fld id="{5163A87F-D551-FE43-A18B-AF35669601BE}" type="datetimeFigureOut">
              <a:rPr lang="en-DK" smtClean="0"/>
              <a:t>19/06/2026</a:t>
            </a:fld>
            <a:endParaRPr lang="en-DK"/>
          </a:p>
        </p:txBody>
      </p:sp>
      <p:sp>
        <p:nvSpPr>
          <p:cNvPr id="6" name="Footer Placeholder 5">
            <a:extLst>
              <a:ext uri="{FF2B5EF4-FFF2-40B4-BE49-F238E27FC236}">
                <a16:creationId xmlns:a16="http://schemas.microsoft.com/office/drawing/2014/main" id="{45302690-BA4C-2C57-FFE8-A490E1256E6D}"/>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B36E920B-B7CA-5F81-8A27-8C4AAD732A6B}"/>
              </a:ext>
            </a:extLst>
          </p:cNvPr>
          <p:cNvSpPr>
            <a:spLocks noGrp="1"/>
          </p:cNvSpPr>
          <p:nvPr>
            <p:ph type="sldNum" sz="quarter" idx="12"/>
          </p:nvPr>
        </p:nvSpPr>
        <p:spPr/>
        <p:txBody>
          <a:bodyPr/>
          <a:lstStyle/>
          <a:p>
            <a:fld id="{4420DDCF-53C7-FC41-81EB-F4DA7191D0F5}" type="slidenum">
              <a:rPr lang="en-DK" smtClean="0"/>
              <a:t>‹#›</a:t>
            </a:fld>
            <a:endParaRPr lang="en-DK"/>
          </a:p>
        </p:txBody>
      </p:sp>
    </p:spTree>
    <p:extLst>
      <p:ext uri="{BB962C8B-B14F-4D97-AF65-F5344CB8AC3E}">
        <p14:creationId xmlns:p14="http://schemas.microsoft.com/office/powerpoint/2010/main" val="3628599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48C3A-078F-DCB2-E4F4-D08EEC107A2A}"/>
              </a:ext>
            </a:extLst>
          </p:cNvPr>
          <p:cNvSpPr>
            <a:spLocks noGrp="1"/>
          </p:cNvSpPr>
          <p:nvPr>
            <p:ph type="title"/>
          </p:nvPr>
        </p:nvSpPr>
        <p:spPr>
          <a:xfrm>
            <a:off x="839788" y="365125"/>
            <a:ext cx="10515600" cy="1325563"/>
          </a:xfrm>
        </p:spPr>
        <p:txBody>
          <a:bodyPr/>
          <a:lstStyle/>
          <a:p>
            <a:r>
              <a:rPr lang="en-GB"/>
              <a:t>Click to edit Master title style</a:t>
            </a:r>
            <a:endParaRPr lang="en-DK"/>
          </a:p>
        </p:txBody>
      </p:sp>
      <p:sp>
        <p:nvSpPr>
          <p:cNvPr id="3" name="Text Placeholder 2">
            <a:extLst>
              <a:ext uri="{FF2B5EF4-FFF2-40B4-BE49-F238E27FC236}">
                <a16:creationId xmlns:a16="http://schemas.microsoft.com/office/drawing/2014/main" id="{77EE461A-D6D2-0501-6E2C-7E7CF435BA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6FC912D-4184-118A-00A7-F82C21E4809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5" name="Text Placeholder 4">
            <a:extLst>
              <a:ext uri="{FF2B5EF4-FFF2-40B4-BE49-F238E27FC236}">
                <a16:creationId xmlns:a16="http://schemas.microsoft.com/office/drawing/2014/main" id="{ADB961D9-EC91-653A-1545-C4AB4745D9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E542638-D07E-2611-5217-36B83196388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7" name="Date Placeholder 6">
            <a:extLst>
              <a:ext uri="{FF2B5EF4-FFF2-40B4-BE49-F238E27FC236}">
                <a16:creationId xmlns:a16="http://schemas.microsoft.com/office/drawing/2014/main" id="{7B065655-D5A6-C12E-CC12-C6005D3998DA}"/>
              </a:ext>
            </a:extLst>
          </p:cNvPr>
          <p:cNvSpPr>
            <a:spLocks noGrp="1"/>
          </p:cNvSpPr>
          <p:nvPr>
            <p:ph type="dt" sz="half" idx="10"/>
          </p:nvPr>
        </p:nvSpPr>
        <p:spPr/>
        <p:txBody>
          <a:bodyPr/>
          <a:lstStyle/>
          <a:p>
            <a:fld id="{5163A87F-D551-FE43-A18B-AF35669601BE}" type="datetimeFigureOut">
              <a:rPr lang="en-DK" smtClean="0"/>
              <a:t>19/06/2026</a:t>
            </a:fld>
            <a:endParaRPr lang="en-DK"/>
          </a:p>
        </p:txBody>
      </p:sp>
      <p:sp>
        <p:nvSpPr>
          <p:cNvPr id="8" name="Footer Placeholder 7">
            <a:extLst>
              <a:ext uri="{FF2B5EF4-FFF2-40B4-BE49-F238E27FC236}">
                <a16:creationId xmlns:a16="http://schemas.microsoft.com/office/drawing/2014/main" id="{7819807B-12A7-45F7-B2BA-C83679903933}"/>
              </a:ext>
            </a:extLst>
          </p:cNvPr>
          <p:cNvSpPr>
            <a:spLocks noGrp="1"/>
          </p:cNvSpPr>
          <p:nvPr>
            <p:ph type="ftr" sz="quarter" idx="11"/>
          </p:nvPr>
        </p:nvSpPr>
        <p:spPr/>
        <p:txBody>
          <a:bodyPr/>
          <a:lstStyle/>
          <a:p>
            <a:endParaRPr lang="en-DK"/>
          </a:p>
        </p:txBody>
      </p:sp>
      <p:sp>
        <p:nvSpPr>
          <p:cNvPr id="9" name="Slide Number Placeholder 8">
            <a:extLst>
              <a:ext uri="{FF2B5EF4-FFF2-40B4-BE49-F238E27FC236}">
                <a16:creationId xmlns:a16="http://schemas.microsoft.com/office/drawing/2014/main" id="{03EDECB8-1AB9-BE9F-FCB0-E4D2A61FC745}"/>
              </a:ext>
            </a:extLst>
          </p:cNvPr>
          <p:cNvSpPr>
            <a:spLocks noGrp="1"/>
          </p:cNvSpPr>
          <p:nvPr>
            <p:ph type="sldNum" sz="quarter" idx="12"/>
          </p:nvPr>
        </p:nvSpPr>
        <p:spPr/>
        <p:txBody>
          <a:bodyPr/>
          <a:lstStyle/>
          <a:p>
            <a:fld id="{4420DDCF-53C7-FC41-81EB-F4DA7191D0F5}" type="slidenum">
              <a:rPr lang="en-DK" smtClean="0"/>
              <a:t>‹#›</a:t>
            </a:fld>
            <a:endParaRPr lang="en-DK"/>
          </a:p>
        </p:txBody>
      </p:sp>
    </p:spTree>
    <p:extLst>
      <p:ext uri="{BB962C8B-B14F-4D97-AF65-F5344CB8AC3E}">
        <p14:creationId xmlns:p14="http://schemas.microsoft.com/office/powerpoint/2010/main" val="3356215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C30D6-EA83-2230-73EC-47DE1D988475}"/>
              </a:ext>
            </a:extLst>
          </p:cNvPr>
          <p:cNvSpPr>
            <a:spLocks noGrp="1"/>
          </p:cNvSpPr>
          <p:nvPr>
            <p:ph type="title"/>
          </p:nvPr>
        </p:nvSpPr>
        <p:spPr/>
        <p:txBody>
          <a:bodyPr/>
          <a:lstStyle/>
          <a:p>
            <a:r>
              <a:rPr lang="en-GB"/>
              <a:t>Click to edit Master title style</a:t>
            </a:r>
            <a:endParaRPr lang="en-DK"/>
          </a:p>
        </p:txBody>
      </p:sp>
      <p:sp>
        <p:nvSpPr>
          <p:cNvPr id="3" name="Date Placeholder 2">
            <a:extLst>
              <a:ext uri="{FF2B5EF4-FFF2-40B4-BE49-F238E27FC236}">
                <a16:creationId xmlns:a16="http://schemas.microsoft.com/office/drawing/2014/main" id="{81D75D06-ACD6-A9E0-021E-2079E3527B20}"/>
              </a:ext>
            </a:extLst>
          </p:cNvPr>
          <p:cNvSpPr>
            <a:spLocks noGrp="1"/>
          </p:cNvSpPr>
          <p:nvPr>
            <p:ph type="dt" sz="half" idx="10"/>
          </p:nvPr>
        </p:nvSpPr>
        <p:spPr/>
        <p:txBody>
          <a:bodyPr/>
          <a:lstStyle/>
          <a:p>
            <a:fld id="{5163A87F-D551-FE43-A18B-AF35669601BE}" type="datetimeFigureOut">
              <a:rPr lang="en-DK" smtClean="0"/>
              <a:t>19/06/2026</a:t>
            </a:fld>
            <a:endParaRPr lang="en-DK"/>
          </a:p>
        </p:txBody>
      </p:sp>
      <p:sp>
        <p:nvSpPr>
          <p:cNvPr id="4" name="Footer Placeholder 3">
            <a:extLst>
              <a:ext uri="{FF2B5EF4-FFF2-40B4-BE49-F238E27FC236}">
                <a16:creationId xmlns:a16="http://schemas.microsoft.com/office/drawing/2014/main" id="{9A908766-AB30-7D76-9405-C7A0782BB001}"/>
              </a:ext>
            </a:extLst>
          </p:cNvPr>
          <p:cNvSpPr>
            <a:spLocks noGrp="1"/>
          </p:cNvSpPr>
          <p:nvPr>
            <p:ph type="ftr" sz="quarter" idx="11"/>
          </p:nvPr>
        </p:nvSpPr>
        <p:spPr/>
        <p:txBody>
          <a:bodyPr/>
          <a:lstStyle/>
          <a:p>
            <a:endParaRPr lang="en-DK"/>
          </a:p>
        </p:txBody>
      </p:sp>
      <p:sp>
        <p:nvSpPr>
          <p:cNvPr id="5" name="Slide Number Placeholder 4">
            <a:extLst>
              <a:ext uri="{FF2B5EF4-FFF2-40B4-BE49-F238E27FC236}">
                <a16:creationId xmlns:a16="http://schemas.microsoft.com/office/drawing/2014/main" id="{7F9065FF-BF46-66EF-96BB-F60E59E3425A}"/>
              </a:ext>
            </a:extLst>
          </p:cNvPr>
          <p:cNvSpPr>
            <a:spLocks noGrp="1"/>
          </p:cNvSpPr>
          <p:nvPr>
            <p:ph type="sldNum" sz="quarter" idx="12"/>
          </p:nvPr>
        </p:nvSpPr>
        <p:spPr/>
        <p:txBody>
          <a:bodyPr/>
          <a:lstStyle/>
          <a:p>
            <a:fld id="{4420DDCF-53C7-FC41-81EB-F4DA7191D0F5}" type="slidenum">
              <a:rPr lang="en-DK" smtClean="0"/>
              <a:t>‹#›</a:t>
            </a:fld>
            <a:endParaRPr lang="en-DK"/>
          </a:p>
        </p:txBody>
      </p:sp>
    </p:spTree>
    <p:extLst>
      <p:ext uri="{BB962C8B-B14F-4D97-AF65-F5344CB8AC3E}">
        <p14:creationId xmlns:p14="http://schemas.microsoft.com/office/powerpoint/2010/main" val="1071475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AEF934-AC6B-B628-C631-8C6D24706E13}"/>
              </a:ext>
            </a:extLst>
          </p:cNvPr>
          <p:cNvSpPr>
            <a:spLocks noGrp="1"/>
          </p:cNvSpPr>
          <p:nvPr>
            <p:ph type="dt" sz="half" idx="10"/>
          </p:nvPr>
        </p:nvSpPr>
        <p:spPr/>
        <p:txBody>
          <a:bodyPr/>
          <a:lstStyle/>
          <a:p>
            <a:fld id="{5163A87F-D551-FE43-A18B-AF35669601BE}" type="datetimeFigureOut">
              <a:rPr lang="en-DK" smtClean="0"/>
              <a:t>19/06/2026</a:t>
            </a:fld>
            <a:endParaRPr lang="en-DK"/>
          </a:p>
        </p:txBody>
      </p:sp>
      <p:sp>
        <p:nvSpPr>
          <p:cNvPr id="3" name="Footer Placeholder 2">
            <a:extLst>
              <a:ext uri="{FF2B5EF4-FFF2-40B4-BE49-F238E27FC236}">
                <a16:creationId xmlns:a16="http://schemas.microsoft.com/office/drawing/2014/main" id="{96004C68-FF0E-8888-5A09-64856065FFCF}"/>
              </a:ext>
            </a:extLst>
          </p:cNvPr>
          <p:cNvSpPr>
            <a:spLocks noGrp="1"/>
          </p:cNvSpPr>
          <p:nvPr>
            <p:ph type="ftr" sz="quarter" idx="11"/>
          </p:nvPr>
        </p:nvSpPr>
        <p:spPr/>
        <p:txBody>
          <a:bodyPr/>
          <a:lstStyle/>
          <a:p>
            <a:endParaRPr lang="en-DK"/>
          </a:p>
        </p:txBody>
      </p:sp>
      <p:sp>
        <p:nvSpPr>
          <p:cNvPr id="4" name="Slide Number Placeholder 3">
            <a:extLst>
              <a:ext uri="{FF2B5EF4-FFF2-40B4-BE49-F238E27FC236}">
                <a16:creationId xmlns:a16="http://schemas.microsoft.com/office/drawing/2014/main" id="{34EA81EF-B727-7DA6-8A1C-39132AABBA90}"/>
              </a:ext>
            </a:extLst>
          </p:cNvPr>
          <p:cNvSpPr>
            <a:spLocks noGrp="1"/>
          </p:cNvSpPr>
          <p:nvPr>
            <p:ph type="sldNum" sz="quarter" idx="12"/>
          </p:nvPr>
        </p:nvSpPr>
        <p:spPr/>
        <p:txBody>
          <a:bodyPr/>
          <a:lstStyle/>
          <a:p>
            <a:fld id="{4420DDCF-53C7-FC41-81EB-F4DA7191D0F5}" type="slidenum">
              <a:rPr lang="en-DK" smtClean="0"/>
              <a:t>‹#›</a:t>
            </a:fld>
            <a:endParaRPr lang="en-DK"/>
          </a:p>
        </p:txBody>
      </p:sp>
    </p:spTree>
    <p:extLst>
      <p:ext uri="{BB962C8B-B14F-4D97-AF65-F5344CB8AC3E}">
        <p14:creationId xmlns:p14="http://schemas.microsoft.com/office/powerpoint/2010/main" val="3732723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E745B-9C7E-4D32-7D21-3D84D314051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K"/>
          </a:p>
        </p:txBody>
      </p:sp>
      <p:sp>
        <p:nvSpPr>
          <p:cNvPr id="3" name="Content Placeholder 2">
            <a:extLst>
              <a:ext uri="{FF2B5EF4-FFF2-40B4-BE49-F238E27FC236}">
                <a16:creationId xmlns:a16="http://schemas.microsoft.com/office/drawing/2014/main" id="{A36A5546-8458-F2AF-C3EC-191019C92A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Text Placeholder 3">
            <a:extLst>
              <a:ext uri="{FF2B5EF4-FFF2-40B4-BE49-F238E27FC236}">
                <a16:creationId xmlns:a16="http://schemas.microsoft.com/office/drawing/2014/main" id="{541EE376-2AF2-7DC5-3B18-7B1593B459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54C2D59-976E-5760-B0ED-D59DBEA26C6A}"/>
              </a:ext>
            </a:extLst>
          </p:cNvPr>
          <p:cNvSpPr>
            <a:spLocks noGrp="1"/>
          </p:cNvSpPr>
          <p:nvPr>
            <p:ph type="dt" sz="half" idx="10"/>
          </p:nvPr>
        </p:nvSpPr>
        <p:spPr/>
        <p:txBody>
          <a:bodyPr/>
          <a:lstStyle/>
          <a:p>
            <a:fld id="{5163A87F-D551-FE43-A18B-AF35669601BE}" type="datetimeFigureOut">
              <a:rPr lang="en-DK" smtClean="0"/>
              <a:t>19/06/2026</a:t>
            </a:fld>
            <a:endParaRPr lang="en-DK"/>
          </a:p>
        </p:txBody>
      </p:sp>
      <p:sp>
        <p:nvSpPr>
          <p:cNvPr id="6" name="Footer Placeholder 5">
            <a:extLst>
              <a:ext uri="{FF2B5EF4-FFF2-40B4-BE49-F238E27FC236}">
                <a16:creationId xmlns:a16="http://schemas.microsoft.com/office/drawing/2014/main" id="{50A23F7B-2820-38AB-7484-0EB93429D019}"/>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23C00A42-DFED-9F38-E2CC-5D6A157ABEE1}"/>
              </a:ext>
            </a:extLst>
          </p:cNvPr>
          <p:cNvSpPr>
            <a:spLocks noGrp="1"/>
          </p:cNvSpPr>
          <p:nvPr>
            <p:ph type="sldNum" sz="quarter" idx="12"/>
          </p:nvPr>
        </p:nvSpPr>
        <p:spPr/>
        <p:txBody>
          <a:bodyPr/>
          <a:lstStyle/>
          <a:p>
            <a:fld id="{4420DDCF-53C7-FC41-81EB-F4DA7191D0F5}" type="slidenum">
              <a:rPr lang="en-DK" smtClean="0"/>
              <a:t>‹#›</a:t>
            </a:fld>
            <a:endParaRPr lang="en-DK"/>
          </a:p>
        </p:txBody>
      </p:sp>
    </p:spTree>
    <p:extLst>
      <p:ext uri="{BB962C8B-B14F-4D97-AF65-F5344CB8AC3E}">
        <p14:creationId xmlns:p14="http://schemas.microsoft.com/office/powerpoint/2010/main" val="1040173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1026E-927A-5574-8CB4-575DF9FCEAE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K"/>
          </a:p>
        </p:txBody>
      </p:sp>
      <p:sp>
        <p:nvSpPr>
          <p:cNvPr id="3" name="Picture Placeholder 2">
            <a:extLst>
              <a:ext uri="{FF2B5EF4-FFF2-40B4-BE49-F238E27FC236}">
                <a16:creationId xmlns:a16="http://schemas.microsoft.com/office/drawing/2014/main" id="{5EF030BA-C890-2B0D-78CA-2EB196549E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K"/>
          </a:p>
        </p:txBody>
      </p:sp>
      <p:sp>
        <p:nvSpPr>
          <p:cNvPr id="4" name="Text Placeholder 3">
            <a:extLst>
              <a:ext uri="{FF2B5EF4-FFF2-40B4-BE49-F238E27FC236}">
                <a16:creationId xmlns:a16="http://schemas.microsoft.com/office/drawing/2014/main" id="{8648FCFA-A5AE-5C63-C324-8795BD2988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AF14995-AA9B-BE5C-C2F6-1EE0AE13A021}"/>
              </a:ext>
            </a:extLst>
          </p:cNvPr>
          <p:cNvSpPr>
            <a:spLocks noGrp="1"/>
          </p:cNvSpPr>
          <p:nvPr>
            <p:ph type="dt" sz="half" idx="10"/>
          </p:nvPr>
        </p:nvSpPr>
        <p:spPr/>
        <p:txBody>
          <a:bodyPr/>
          <a:lstStyle/>
          <a:p>
            <a:fld id="{5163A87F-D551-FE43-A18B-AF35669601BE}" type="datetimeFigureOut">
              <a:rPr lang="en-DK" smtClean="0"/>
              <a:t>19/06/2026</a:t>
            </a:fld>
            <a:endParaRPr lang="en-DK"/>
          </a:p>
        </p:txBody>
      </p:sp>
      <p:sp>
        <p:nvSpPr>
          <p:cNvPr id="6" name="Footer Placeholder 5">
            <a:extLst>
              <a:ext uri="{FF2B5EF4-FFF2-40B4-BE49-F238E27FC236}">
                <a16:creationId xmlns:a16="http://schemas.microsoft.com/office/drawing/2014/main" id="{0BFF462E-09C9-D28D-6AF6-B32F56379BAA}"/>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2DBDBB16-5A82-2050-6F30-488141D07A91}"/>
              </a:ext>
            </a:extLst>
          </p:cNvPr>
          <p:cNvSpPr>
            <a:spLocks noGrp="1"/>
          </p:cNvSpPr>
          <p:nvPr>
            <p:ph type="sldNum" sz="quarter" idx="12"/>
          </p:nvPr>
        </p:nvSpPr>
        <p:spPr/>
        <p:txBody>
          <a:bodyPr/>
          <a:lstStyle/>
          <a:p>
            <a:fld id="{4420DDCF-53C7-FC41-81EB-F4DA7191D0F5}" type="slidenum">
              <a:rPr lang="en-DK" smtClean="0"/>
              <a:t>‹#›</a:t>
            </a:fld>
            <a:endParaRPr lang="en-DK"/>
          </a:p>
        </p:txBody>
      </p:sp>
    </p:spTree>
    <p:extLst>
      <p:ext uri="{BB962C8B-B14F-4D97-AF65-F5344CB8AC3E}">
        <p14:creationId xmlns:p14="http://schemas.microsoft.com/office/powerpoint/2010/main" val="1388446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7D853-25CA-1DD6-37CB-D34563B06385}"/>
              </a:ext>
            </a:extLst>
          </p:cNvPr>
          <p:cNvSpPr>
            <a:spLocks noGrp="1"/>
          </p:cNvSpPr>
          <p:nvPr>
            <p:ph type="title"/>
          </p:nvPr>
        </p:nvSpPr>
        <p:spPr/>
        <p:txBody>
          <a:bodyPr/>
          <a:lstStyle/>
          <a:p>
            <a:r>
              <a:rPr lang="en-GB"/>
              <a:t>Click to edit Master title style</a:t>
            </a:r>
            <a:endParaRPr lang="en-DK"/>
          </a:p>
        </p:txBody>
      </p:sp>
      <p:sp>
        <p:nvSpPr>
          <p:cNvPr id="3" name="Vertical Text Placeholder 2">
            <a:extLst>
              <a:ext uri="{FF2B5EF4-FFF2-40B4-BE49-F238E27FC236}">
                <a16:creationId xmlns:a16="http://schemas.microsoft.com/office/drawing/2014/main" id="{49FD5E06-4A0D-F06C-C6C3-384329F5C81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Date Placeholder 3">
            <a:extLst>
              <a:ext uri="{FF2B5EF4-FFF2-40B4-BE49-F238E27FC236}">
                <a16:creationId xmlns:a16="http://schemas.microsoft.com/office/drawing/2014/main" id="{AD95A1BF-6012-4889-FE41-15D0FC55E8DD}"/>
              </a:ext>
            </a:extLst>
          </p:cNvPr>
          <p:cNvSpPr>
            <a:spLocks noGrp="1"/>
          </p:cNvSpPr>
          <p:nvPr>
            <p:ph type="dt" sz="half" idx="10"/>
          </p:nvPr>
        </p:nvSpPr>
        <p:spPr/>
        <p:txBody>
          <a:bodyPr/>
          <a:lstStyle/>
          <a:p>
            <a:fld id="{5163A87F-D551-FE43-A18B-AF35669601BE}" type="datetimeFigureOut">
              <a:rPr lang="en-DK" smtClean="0"/>
              <a:t>19/06/2026</a:t>
            </a:fld>
            <a:endParaRPr lang="en-DK"/>
          </a:p>
        </p:txBody>
      </p:sp>
      <p:sp>
        <p:nvSpPr>
          <p:cNvPr id="5" name="Footer Placeholder 4">
            <a:extLst>
              <a:ext uri="{FF2B5EF4-FFF2-40B4-BE49-F238E27FC236}">
                <a16:creationId xmlns:a16="http://schemas.microsoft.com/office/drawing/2014/main" id="{01ADB139-AAEE-F185-87A8-620C2133D376}"/>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AE7D5B97-8A53-A3E6-7432-732EC79B6FEE}"/>
              </a:ext>
            </a:extLst>
          </p:cNvPr>
          <p:cNvSpPr>
            <a:spLocks noGrp="1"/>
          </p:cNvSpPr>
          <p:nvPr>
            <p:ph type="sldNum" sz="quarter" idx="12"/>
          </p:nvPr>
        </p:nvSpPr>
        <p:spPr/>
        <p:txBody>
          <a:bodyPr/>
          <a:lstStyle/>
          <a:p>
            <a:fld id="{4420DDCF-53C7-FC41-81EB-F4DA7191D0F5}" type="slidenum">
              <a:rPr lang="en-DK" smtClean="0"/>
              <a:t>‹#›</a:t>
            </a:fld>
            <a:endParaRPr lang="en-DK"/>
          </a:p>
        </p:txBody>
      </p:sp>
    </p:spTree>
    <p:extLst>
      <p:ext uri="{BB962C8B-B14F-4D97-AF65-F5344CB8AC3E}">
        <p14:creationId xmlns:p14="http://schemas.microsoft.com/office/powerpoint/2010/main" val="237552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9CDD53-25A8-EE9E-5E2C-587E8C260BE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DK"/>
          </a:p>
        </p:txBody>
      </p:sp>
      <p:sp>
        <p:nvSpPr>
          <p:cNvPr id="3" name="Vertical Text Placeholder 2">
            <a:extLst>
              <a:ext uri="{FF2B5EF4-FFF2-40B4-BE49-F238E27FC236}">
                <a16:creationId xmlns:a16="http://schemas.microsoft.com/office/drawing/2014/main" id="{892E873B-0072-8ED2-C17C-BF1E4CC9C33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Date Placeholder 3">
            <a:extLst>
              <a:ext uri="{FF2B5EF4-FFF2-40B4-BE49-F238E27FC236}">
                <a16:creationId xmlns:a16="http://schemas.microsoft.com/office/drawing/2014/main" id="{CF3364CA-C25C-63C8-87FA-49AF89570F91}"/>
              </a:ext>
            </a:extLst>
          </p:cNvPr>
          <p:cNvSpPr>
            <a:spLocks noGrp="1"/>
          </p:cNvSpPr>
          <p:nvPr>
            <p:ph type="dt" sz="half" idx="10"/>
          </p:nvPr>
        </p:nvSpPr>
        <p:spPr/>
        <p:txBody>
          <a:bodyPr/>
          <a:lstStyle/>
          <a:p>
            <a:fld id="{5163A87F-D551-FE43-A18B-AF35669601BE}" type="datetimeFigureOut">
              <a:rPr lang="en-DK" smtClean="0"/>
              <a:t>19/06/2026</a:t>
            </a:fld>
            <a:endParaRPr lang="en-DK"/>
          </a:p>
        </p:txBody>
      </p:sp>
      <p:sp>
        <p:nvSpPr>
          <p:cNvPr id="5" name="Footer Placeholder 4">
            <a:extLst>
              <a:ext uri="{FF2B5EF4-FFF2-40B4-BE49-F238E27FC236}">
                <a16:creationId xmlns:a16="http://schemas.microsoft.com/office/drawing/2014/main" id="{D4A3272C-3B03-4A13-74D3-EF62186E4E1B}"/>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B6CC4CA2-AE06-C87C-7169-963BE046CFC9}"/>
              </a:ext>
            </a:extLst>
          </p:cNvPr>
          <p:cNvSpPr>
            <a:spLocks noGrp="1"/>
          </p:cNvSpPr>
          <p:nvPr>
            <p:ph type="sldNum" sz="quarter" idx="12"/>
          </p:nvPr>
        </p:nvSpPr>
        <p:spPr/>
        <p:txBody>
          <a:bodyPr/>
          <a:lstStyle/>
          <a:p>
            <a:fld id="{4420DDCF-53C7-FC41-81EB-F4DA7191D0F5}" type="slidenum">
              <a:rPr lang="en-DK" smtClean="0"/>
              <a:t>‹#›</a:t>
            </a:fld>
            <a:endParaRPr lang="en-DK"/>
          </a:p>
        </p:txBody>
      </p:sp>
    </p:spTree>
    <p:extLst>
      <p:ext uri="{BB962C8B-B14F-4D97-AF65-F5344CB8AC3E}">
        <p14:creationId xmlns:p14="http://schemas.microsoft.com/office/powerpoint/2010/main" val="1268882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6906BD-B5C8-20EC-6CF5-D83169C87D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DK"/>
          </a:p>
        </p:txBody>
      </p:sp>
      <p:sp>
        <p:nvSpPr>
          <p:cNvPr id="3" name="Text Placeholder 2">
            <a:extLst>
              <a:ext uri="{FF2B5EF4-FFF2-40B4-BE49-F238E27FC236}">
                <a16:creationId xmlns:a16="http://schemas.microsoft.com/office/drawing/2014/main" id="{0DF5FB4E-6D1D-9879-F33A-921DACC0E4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K"/>
          </a:p>
        </p:txBody>
      </p:sp>
      <p:sp>
        <p:nvSpPr>
          <p:cNvPr id="4" name="Date Placeholder 3">
            <a:extLst>
              <a:ext uri="{FF2B5EF4-FFF2-40B4-BE49-F238E27FC236}">
                <a16:creationId xmlns:a16="http://schemas.microsoft.com/office/drawing/2014/main" id="{C0AF4B8C-4A59-8E04-2F41-0C4BECC98D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163A87F-D551-FE43-A18B-AF35669601BE}" type="datetimeFigureOut">
              <a:rPr lang="en-DK" smtClean="0"/>
              <a:t>19/06/2026</a:t>
            </a:fld>
            <a:endParaRPr lang="en-DK"/>
          </a:p>
        </p:txBody>
      </p:sp>
      <p:sp>
        <p:nvSpPr>
          <p:cNvPr id="5" name="Footer Placeholder 4">
            <a:extLst>
              <a:ext uri="{FF2B5EF4-FFF2-40B4-BE49-F238E27FC236}">
                <a16:creationId xmlns:a16="http://schemas.microsoft.com/office/drawing/2014/main" id="{ED07EC92-389A-95E3-B67A-310657AAE6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K"/>
          </a:p>
        </p:txBody>
      </p:sp>
      <p:sp>
        <p:nvSpPr>
          <p:cNvPr id="6" name="Slide Number Placeholder 5">
            <a:extLst>
              <a:ext uri="{FF2B5EF4-FFF2-40B4-BE49-F238E27FC236}">
                <a16:creationId xmlns:a16="http://schemas.microsoft.com/office/drawing/2014/main" id="{428F86A2-C70B-D450-33E5-AB5F23B5BA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20DDCF-53C7-FC41-81EB-F4DA7191D0F5}" type="slidenum">
              <a:rPr lang="en-DK" smtClean="0"/>
              <a:t>‹#›</a:t>
            </a:fld>
            <a:endParaRPr lang="en-DK"/>
          </a:p>
        </p:txBody>
      </p:sp>
      <p:sp>
        <p:nvSpPr>
          <p:cNvPr id="8" name="TextBox 7">
            <a:extLst>
              <a:ext uri="{FF2B5EF4-FFF2-40B4-BE49-F238E27FC236}">
                <a16:creationId xmlns:a16="http://schemas.microsoft.com/office/drawing/2014/main" id="{DDC20ADE-7785-9B43-0663-F5F1EB1112DB}"/>
              </a:ext>
            </a:extLst>
          </p:cNvPr>
          <p:cNvSpPr txBox="1"/>
          <p:nvPr userDrawn="1">
            <p:extLst>
              <p:ext uri="{1162E1C5-73C7-4A58-AE30-91384D911F3F}">
                <p184:classification xmlns:p184="http://schemas.microsoft.com/office/powerpoint/2018/4/main" val="ftr"/>
              </p:ext>
            </p:extLst>
          </p:nvPr>
        </p:nvSpPr>
        <p:spPr>
          <a:xfrm>
            <a:off x="190500" y="6515100"/>
            <a:ext cx="1270000" cy="152400"/>
          </a:xfrm>
          <a:prstGeom prst="rect">
            <a:avLst/>
          </a:prstGeom>
        </p:spPr>
        <p:txBody>
          <a:bodyPr horzOverflow="overflow" lIns="0" tIns="0" rIns="0" bIns="0">
            <a:spAutoFit/>
          </a:bodyPr>
          <a:lstStyle/>
          <a:p>
            <a:pPr algn="l"/>
            <a:r>
              <a:rPr lang="en-DK" sz="1000">
                <a:solidFill>
                  <a:srgbClr val="000000">
                    <a:alpha val="50000"/>
                  </a:srgbClr>
                </a:solidFill>
                <a:latin typeface="Aptos" panose="020B0004020202020204" pitchFamily="34" charset="0"/>
              </a:rPr>
              <a:t>Classification: Internal</a:t>
            </a:r>
          </a:p>
        </p:txBody>
      </p:sp>
    </p:spTree>
    <p:extLst>
      <p:ext uri="{BB962C8B-B14F-4D97-AF65-F5344CB8AC3E}">
        <p14:creationId xmlns:p14="http://schemas.microsoft.com/office/powerpoint/2010/main" val="3662996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61D61-1CF1-FAF2-AE65-7B6192EEAF09}"/>
              </a:ext>
            </a:extLst>
          </p:cNvPr>
          <p:cNvSpPr>
            <a:spLocks noGrp="1"/>
          </p:cNvSpPr>
          <p:nvPr>
            <p:ph type="ctrTitle"/>
          </p:nvPr>
        </p:nvSpPr>
        <p:spPr/>
        <p:txBody>
          <a:bodyPr/>
          <a:lstStyle/>
          <a:p>
            <a:r>
              <a:rPr lang="en-DK" dirty="0"/>
              <a:t>Optimized Mineral Mining in StarCraft: Brood War</a:t>
            </a:r>
          </a:p>
        </p:txBody>
      </p:sp>
      <p:sp>
        <p:nvSpPr>
          <p:cNvPr id="3" name="Subtitle 2">
            <a:extLst>
              <a:ext uri="{FF2B5EF4-FFF2-40B4-BE49-F238E27FC236}">
                <a16:creationId xmlns:a16="http://schemas.microsoft.com/office/drawing/2014/main" id="{36E4DBC7-8411-719F-9AC8-F4402F423185}"/>
              </a:ext>
            </a:extLst>
          </p:cNvPr>
          <p:cNvSpPr>
            <a:spLocks noGrp="1"/>
          </p:cNvSpPr>
          <p:nvPr>
            <p:ph type="subTitle" idx="1"/>
          </p:nvPr>
        </p:nvSpPr>
        <p:spPr/>
        <p:txBody>
          <a:bodyPr/>
          <a:lstStyle/>
          <a:p>
            <a:r>
              <a:rPr lang="en-DK" dirty="0"/>
              <a:t>(for bots)</a:t>
            </a:r>
          </a:p>
        </p:txBody>
      </p:sp>
    </p:spTree>
    <p:extLst>
      <p:ext uri="{BB962C8B-B14F-4D97-AF65-F5344CB8AC3E}">
        <p14:creationId xmlns:p14="http://schemas.microsoft.com/office/powerpoint/2010/main" val="314417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E01BB-5BB0-4D9F-A610-A244F294A41F}"/>
              </a:ext>
            </a:extLst>
          </p:cNvPr>
          <p:cNvSpPr>
            <a:spLocks noGrp="1"/>
          </p:cNvSpPr>
          <p:nvPr>
            <p:ph type="title"/>
          </p:nvPr>
        </p:nvSpPr>
        <p:spPr/>
        <p:txBody>
          <a:bodyPr/>
          <a:lstStyle/>
          <a:p>
            <a:r>
              <a:rPr lang="en-DK" dirty="0"/>
              <a:t>Normal order transitions</a:t>
            </a:r>
          </a:p>
        </p:txBody>
      </p:sp>
      <p:sp>
        <p:nvSpPr>
          <p:cNvPr id="3" name="Content Placeholder 2">
            <a:extLst>
              <a:ext uri="{FF2B5EF4-FFF2-40B4-BE49-F238E27FC236}">
                <a16:creationId xmlns:a16="http://schemas.microsoft.com/office/drawing/2014/main" id="{6137D287-7EF0-8046-B6E0-275B80A14586}"/>
              </a:ext>
            </a:extLst>
          </p:cNvPr>
          <p:cNvSpPr>
            <a:spLocks noGrp="1"/>
          </p:cNvSpPr>
          <p:nvPr>
            <p:ph idx="1"/>
          </p:nvPr>
        </p:nvSpPr>
        <p:spPr/>
        <p:txBody>
          <a:bodyPr>
            <a:normAutofit fontScale="92500" lnSpcReduction="20000"/>
          </a:bodyPr>
          <a:lstStyle/>
          <a:p>
            <a:r>
              <a:rPr lang="en-DK" dirty="0"/>
              <a:t>The worker is ordered to gather the patch and transitions to MoveToMinerals after latency frames</a:t>
            </a:r>
          </a:p>
          <a:p>
            <a:r>
              <a:rPr lang="en-DK" dirty="0"/>
              <a:t>When the worker is at the patch, it transitions to WaitForMinerals</a:t>
            </a:r>
          </a:p>
          <a:p>
            <a:r>
              <a:rPr lang="en-DK" dirty="0"/>
              <a:t>On the next frame, it transitions to MiningMinerals</a:t>
            </a:r>
          </a:p>
          <a:p>
            <a:r>
              <a:rPr lang="en-DK" dirty="0"/>
              <a:t>On the next frame, the order timer is set to 75 and starts decrementing every frame</a:t>
            </a:r>
          </a:p>
          <a:p>
            <a:r>
              <a:rPr lang="en-DK" dirty="0"/>
              <a:t>When the order timer reaches 0, the worker gains minerals and transitions to ResetHarvestCollision</a:t>
            </a:r>
          </a:p>
          <a:p>
            <a:r>
              <a:rPr lang="en-DK" dirty="0"/>
              <a:t>On the next frame, it transitions to ReturnMinerals and paths to the depot</a:t>
            </a:r>
          </a:p>
          <a:p>
            <a:r>
              <a:rPr lang="en-DK" dirty="0"/>
              <a:t>When the worker is at the depot, it delivers the minerals and transitions back to MoveToMinerals</a:t>
            </a:r>
          </a:p>
        </p:txBody>
      </p:sp>
    </p:spTree>
    <p:extLst>
      <p:ext uri="{BB962C8B-B14F-4D97-AF65-F5344CB8AC3E}">
        <p14:creationId xmlns:p14="http://schemas.microsoft.com/office/powerpoint/2010/main" val="1729535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2DA2A-B395-A4E0-38F0-E63864A2B8BF}"/>
              </a:ext>
            </a:extLst>
          </p:cNvPr>
          <p:cNvSpPr>
            <a:spLocks noGrp="1"/>
          </p:cNvSpPr>
          <p:nvPr>
            <p:ph type="title"/>
          </p:nvPr>
        </p:nvSpPr>
        <p:spPr/>
        <p:txBody>
          <a:bodyPr/>
          <a:lstStyle/>
          <a:p>
            <a:r>
              <a:rPr lang="en-DK" dirty="0"/>
              <a:t>Order process timer</a:t>
            </a:r>
          </a:p>
        </p:txBody>
      </p:sp>
      <p:sp>
        <p:nvSpPr>
          <p:cNvPr id="3" name="Content Placeholder 2">
            <a:extLst>
              <a:ext uri="{FF2B5EF4-FFF2-40B4-BE49-F238E27FC236}">
                <a16:creationId xmlns:a16="http://schemas.microsoft.com/office/drawing/2014/main" id="{33FC3777-0E97-47F4-2027-5C530352435D}"/>
              </a:ext>
            </a:extLst>
          </p:cNvPr>
          <p:cNvSpPr>
            <a:spLocks noGrp="1"/>
          </p:cNvSpPr>
          <p:nvPr>
            <p:ph idx="1"/>
          </p:nvPr>
        </p:nvSpPr>
        <p:spPr/>
        <p:txBody>
          <a:bodyPr/>
          <a:lstStyle/>
          <a:p>
            <a:r>
              <a:rPr lang="en-DK" dirty="0"/>
              <a:t>Each unit has an order process timer that normally runs on a 9-frame cycle, decrementing every frame and resetting to 8 when it goes negative (so values can be in the range [0-8])</a:t>
            </a:r>
          </a:p>
          <a:p>
            <a:r>
              <a:rPr lang="en-DK" dirty="0"/>
              <a:t>Most orders, including all mining transitions, are only processed when the unit’s order process timer is at 0 at the start of the frame</a:t>
            </a:r>
          </a:p>
          <a:p>
            <a:endParaRPr lang="en-DK" dirty="0"/>
          </a:p>
        </p:txBody>
      </p:sp>
    </p:spTree>
    <p:extLst>
      <p:ext uri="{BB962C8B-B14F-4D97-AF65-F5344CB8AC3E}">
        <p14:creationId xmlns:p14="http://schemas.microsoft.com/office/powerpoint/2010/main" val="2903668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4BE38-0EE1-3FD9-500E-81F25D7771EE}"/>
              </a:ext>
            </a:extLst>
          </p:cNvPr>
          <p:cNvSpPr>
            <a:spLocks noGrp="1"/>
          </p:cNvSpPr>
          <p:nvPr>
            <p:ph type="title"/>
          </p:nvPr>
        </p:nvSpPr>
        <p:spPr/>
        <p:txBody>
          <a:bodyPr/>
          <a:lstStyle/>
          <a:p>
            <a:r>
              <a:rPr lang="en-DK" dirty="0"/>
              <a:t>Order process timer resets</a:t>
            </a:r>
          </a:p>
        </p:txBody>
      </p:sp>
      <p:sp>
        <p:nvSpPr>
          <p:cNvPr id="3" name="Content Placeholder 2">
            <a:extLst>
              <a:ext uri="{FF2B5EF4-FFF2-40B4-BE49-F238E27FC236}">
                <a16:creationId xmlns:a16="http://schemas.microsoft.com/office/drawing/2014/main" id="{CBDF5A9B-AE7A-0239-C886-7FF2F1A25982}"/>
              </a:ext>
            </a:extLst>
          </p:cNvPr>
          <p:cNvSpPr>
            <a:spLocks noGrp="1"/>
          </p:cNvSpPr>
          <p:nvPr>
            <p:ph idx="1"/>
          </p:nvPr>
        </p:nvSpPr>
        <p:spPr/>
        <p:txBody>
          <a:bodyPr/>
          <a:lstStyle/>
          <a:p>
            <a:r>
              <a:rPr lang="en-DK" dirty="0"/>
              <a:t>Every 150 frames (starting on frame 8), the game resets the order process timer of all units to a value in the range [0-7]</a:t>
            </a:r>
          </a:p>
          <a:p>
            <a:r>
              <a:rPr lang="en-DK" dirty="0"/>
              <a:t>The reset happens at the start of the frame, before any unit orders are processed and any pending unit commands are processed</a:t>
            </a:r>
          </a:p>
          <a:p>
            <a:r>
              <a:rPr lang="en-DK" dirty="0"/>
              <a:t>For mining, resets add unpredictability to timings and can cause strange behaviour when corresponding to specific transitions</a:t>
            </a:r>
          </a:p>
        </p:txBody>
      </p:sp>
    </p:spTree>
    <p:extLst>
      <p:ext uri="{BB962C8B-B14F-4D97-AF65-F5344CB8AC3E}">
        <p14:creationId xmlns:p14="http://schemas.microsoft.com/office/powerpoint/2010/main" val="2700952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A9BA6-0A4F-9F20-6874-EE1880CF4C0C}"/>
              </a:ext>
            </a:extLst>
          </p:cNvPr>
          <p:cNvSpPr>
            <a:spLocks noGrp="1"/>
          </p:cNvSpPr>
          <p:nvPr>
            <p:ph type="title"/>
          </p:nvPr>
        </p:nvSpPr>
        <p:spPr/>
        <p:txBody>
          <a:bodyPr/>
          <a:lstStyle/>
          <a:p>
            <a:r>
              <a:rPr lang="en-DK" dirty="0"/>
              <a:t>Resending a gather command</a:t>
            </a:r>
          </a:p>
        </p:txBody>
      </p:sp>
      <p:sp>
        <p:nvSpPr>
          <p:cNvPr id="3" name="Content Placeholder 2">
            <a:extLst>
              <a:ext uri="{FF2B5EF4-FFF2-40B4-BE49-F238E27FC236}">
                <a16:creationId xmlns:a16="http://schemas.microsoft.com/office/drawing/2014/main" id="{6F33BB5B-EC61-1BF3-B176-B7E93640E0A0}"/>
              </a:ext>
            </a:extLst>
          </p:cNvPr>
          <p:cNvSpPr>
            <a:spLocks noGrp="1"/>
          </p:cNvSpPr>
          <p:nvPr>
            <p:ph idx="1"/>
          </p:nvPr>
        </p:nvSpPr>
        <p:spPr/>
        <p:txBody>
          <a:bodyPr>
            <a:normAutofit/>
          </a:bodyPr>
          <a:lstStyle/>
          <a:p>
            <a:r>
              <a:rPr lang="en-DK" dirty="0"/>
              <a:t>A gather command can be re-issued to a worker already in MoveToMinerals</a:t>
            </a:r>
          </a:p>
          <a:p>
            <a:r>
              <a:rPr lang="en-DK" dirty="0"/>
              <a:t>On the frame the command takes effect after latency, the worker will start replanning its path to the patch</a:t>
            </a:r>
          </a:p>
          <a:p>
            <a:r>
              <a:rPr lang="en-DK" dirty="0"/>
              <a:t>On the next frame, the worker completes the pathing and restarts the normal order process timer cycle again</a:t>
            </a:r>
          </a:p>
          <a:p>
            <a:r>
              <a:rPr lang="en-DK" dirty="0"/>
              <a:t>Limitations:</a:t>
            </a:r>
          </a:p>
          <a:p>
            <a:pPr lvl="1"/>
            <a:r>
              <a:rPr lang="en-DK" dirty="0"/>
              <a:t>A gather command cannot be sent exactly LF after a previous gather command</a:t>
            </a:r>
          </a:p>
          <a:p>
            <a:pPr lvl="1"/>
            <a:r>
              <a:rPr lang="en-DK" dirty="0"/>
              <a:t>Order process timer resets during path replanning should be avoided</a:t>
            </a:r>
          </a:p>
        </p:txBody>
      </p:sp>
    </p:spTree>
    <p:extLst>
      <p:ext uri="{BB962C8B-B14F-4D97-AF65-F5344CB8AC3E}">
        <p14:creationId xmlns:p14="http://schemas.microsoft.com/office/powerpoint/2010/main" val="2666994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4A4CB-40BA-2594-0B59-ADDB97F2BD53}"/>
              </a:ext>
            </a:extLst>
          </p:cNvPr>
          <p:cNvSpPr>
            <a:spLocks noGrp="1"/>
          </p:cNvSpPr>
          <p:nvPr>
            <p:ph type="title"/>
          </p:nvPr>
        </p:nvSpPr>
        <p:spPr/>
        <p:txBody>
          <a:bodyPr/>
          <a:lstStyle/>
          <a:p>
            <a:r>
              <a:rPr lang="en-DK" dirty="0"/>
              <a:t>Resending a return command</a:t>
            </a:r>
          </a:p>
        </p:txBody>
      </p:sp>
      <p:sp>
        <p:nvSpPr>
          <p:cNvPr id="3" name="Content Placeholder 2">
            <a:extLst>
              <a:ext uri="{FF2B5EF4-FFF2-40B4-BE49-F238E27FC236}">
                <a16:creationId xmlns:a16="http://schemas.microsoft.com/office/drawing/2014/main" id="{A18004AF-B0FE-3800-610C-8D01797D35C7}"/>
              </a:ext>
            </a:extLst>
          </p:cNvPr>
          <p:cNvSpPr>
            <a:spLocks noGrp="1"/>
          </p:cNvSpPr>
          <p:nvPr>
            <p:ph idx="1"/>
          </p:nvPr>
        </p:nvSpPr>
        <p:spPr/>
        <p:txBody>
          <a:bodyPr/>
          <a:lstStyle/>
          <a:p>
            <a:r>
              <a:rPr lang="en-DK" dirty="0"/>
              <a:t>Similar to previous, a return cargo command (or right click on depot command, they are functionally equivalent) can be issued to a worker already in ReturnCargo</a:t>
            </a:r>
          </a:p>
          <a:p>
            <a:r>
              <a:rPr lang="en-DK" dirty="0"/>
              <a:t>The behaviour is completely different, however: the path replanning only takes one frame, but BW detects a collision between the worker and itself, causing two frames of pause while that is resolved</a:t>
            </a:r>
          </a:p>
          <a:p>
            <a:endParaRPr lang="en-DK" dirty="0"/>
          </a:p>
        </p:txBody>
      </p:sp>
    </p:spTree>
    <p:extLst>
      <p:ext uri="{BB962C8B-B14F-4D97-AF65-F5344CB8AC3E}">
        <p14:creationId xmlns:p14="http://schemas.microsoft.com/office/powerpoint/2010/main" val="4164142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3C396-CB71-CE91-B40B-2A773E88C267}"/>
              </a:ext>
            </a:extLst>
          </p:cNvPr>
          <p:cNvSpPr>
            <a:spLocks noGrp="1"/>
          </p:cNvSpPr>
          <p:nvPr>
            <p:ph type="title"/>
          </p:nvPr>
        </p:nvSpPr>
        <p:spPr/>
        <p:txBody>
          <a:bodyPr/>
          <a:lstStyle/>
          <a:p>
            <a:r>
              <a:rPr lang="en-DK" dirty="0"/>
              <a:t>Subpixel positions</a:t>
            </a:r>
          </a:p>
        </p:txBody>
      </p:sp>
      <p:sp>
        <p:nvSpPr>
          <p:cNvPr id="3" name="Content Placeholder 2">
            <a:extLst>
              <a:ext uri="{FF2B5EF4-FFF2-40B4-BE49-F238E27FC236}">
                <a16:creationId xmlns:a16="http://schemas.microsoft.com/office/drawing/2014/main" id="{139833D5-720D-D984-BEFA-CCA1517E9102}"/>
              </a:ext>
            </a:extLst>
          </p:cNvPr>
          <p:cNvSpPr>
            <a:spLocks noGrp="1"/>
          </p:cNvSpPr>
          <p:nvPr>
            <p:ph idx="1"/>
          </p:nvPr>
        </p:nvSpPr>
        <p:spPr/>
        <p:txBody>
          <a:bodyPr/>
          <a:lstStyle/>
          <a:p>
            <a:r>
              <a:rPr lang="en-DK" dirty="0"/>
              <a:t>To enable smooth motion of units at all speeds, the BW engine tracks unit positions at a subpixel level (supporting 256 subpixel positions on each axis)</a:t>
            </a:r>
          </a:p>
          <a:p>
            <a:r>
              <a:rPr lang="en-DK" dirty="0"/>
              <a:t>This has two major impacts on mining optimization:</a:t>
            </a:r>
          </a:p>
          <a:p>
            <a:pPr lvl="1"/>
            <a:r>
              <a:rPr lang="en-DK" dirty="0"/>
              <a:t>Resending a command at the same pixel position can give different paths depending on subpixel values</a:t>
            </a:r>
          </a:p>
          <a:p>
            <a:pPr lvl="1"/>
            <a:r>
              <a:rPr lang="en-DK" dirty="0"/>
              <a:t>Collisions can occur with the patch or depot after mining or return completion</a:t>
            </a:r>
          </a:p>
        </p:txBody>
      </p:sp>
    </p:spTree>
    <p:extLst>
      <p:ext uri="{BB962C8B-B14F-4D97-AF65-F5344CB8AC3E}">
        <p14:creationId xmlns:p14="http://schemas.microsoft.com/office/powerpoint/2010/main" val="728164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25E41-F36D-DFD0-C7AE-743B86277B97}"/>
              </a:ext>
            </a:extLst>
          </p:cNvPr>
          <p:cNvSpPr>
            <a:spLocks noGrp="1"/>
          </p:cNvSpPr>
          <p:nvPr>
            <p:ph type="title"/>
          </p:nvPr>
        </p:nvSpPr>
        <p:spPr/>
        <p:txBody>
          <a:bodyPr/>
          <a:lstStyle/>
          <a:p>
            <a:r>
              <a:rPr lang="en-DK" dirty="0"/>
              <a:t>Collision with patch or depot</a:t>
            </a:r>
          </a:p>
        </p:txBody>
      </p:sp>
      <p:sp>
        <p:nvSpPr>
          <p:cNvPr id="3" name="Content Placeholder 2">
            <a:extLst>
              <a:ext uri="{FF2B5EF4-FFF2-40B4-BE49-F238E27FC236}">
                <a16:creationId xmlns:a16="http://schemas.microsoft.com/office/drawing/2014/main" id="{CDE48BEF-9054-75BA-0CC0-DAB2C1B5F464}"/>
              </a:ext>
            </a:extLst>
          </p:cNvPr>
          <p:cNvSpPr>
            <a:spLocks noGrp="1"/>
          </p:cNvSpPr>
          <p:nvPr>
            <p:ph idx="1"/>
          </p:nvPr>
        </p:nvSpPr>
        <p:spPr/>
        <p:txBody>
          <a:bodyPr/>
          <a:lstStyle/>
          <a:p>
            <a:r>
              <a:rPr lang="en-DK" dirty="0"/>
              <a:t>When a worker turns from the patch/depot, it initially has forward motion at the subpixel level towards the patch/depot as it accelerates and turns</a:t>
            </a:r>
          </a:p>
          <a:p>
            <a:pPr lvl="1"/>
            <a:r>
              <a:rPr lang="en-DK" dirty="0"/>
              <a:t>One can think of the worker as being a car with a small turning radius, rather than being a bumper car that can spin around its center</a:t>
            </a:r>
          </a:p>
          <a:p>
            <a:r>
              <a:rPr lang="en-DK" dirty="0"/>
              <a:t>If the subpixel position of the worker while mining or returning is sufficiently close to the patch or depot, it will therefore collide with the patch or depot and trigger collision resolution</a:t>
            </a:r>
          </a:p>
          <a:p>
            <a:r>
              <a:rPr lang="en-DK" dirty="0"/>
              <a:t>The collision resolution does not complete until the order process timer cycle reaches 0, so this is a significant time delay</a:t>
            </a:r>
          </a:p>
          <a:p>
            <a:endParaRPr lang="en-DK" dirty="0"/>
          </a:p>
        </p:txBody>
      </p:sp>
    </p:spTree>
    <p:extLst>
      <p:ext uri="{BB962C8B-B14F-4D97-AF65-F5344CB8AC3E}">
        <p14:creationId xmlns:p14="http://schemas.microsoft.com/office/powerpoint/2010/main" val="1905739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B4F29-0FBC-23C0-A04B-6973A7440F9E}"/>
              </a:ext>
            </a:extLst>
          </p:cNvPr>
          <p:cNvSpPr>
            <a:spLocks noGrp="1"/>
          </p:cNvSpPr>
          <p:nvPr>
            <p:ph type="title"/>
          </p:nvPr>
        </p:nvSpPr>
        <p:spPr/>
        <p:txBody>
          <a:bodyPr/>
          <a:lstStyle/>
          <a:p>
            <a:r>
              <a:rPr lang="en-DK" dirty="0"/>
              <a:t>Carrying speed on return</a:t>
            </a:r>
          </a:p>
        </p:txBody>
      </p:sp>
      <p:sp>
        <p:nvSpPr>
          <p:cNvPr id="3" name="Content Placeholder 2">
            <a:extLst>
              <a:ext uri="{FF2B5EF4-FFF2-40B4-BE49-F238E27FC236}">
                <a16:creationId xmlns:a16="http://schemas.microsoft.com/office/drawing/2014/main" id="{8822AB13-C04F-9B12-48A5-044DF7498712}"/>
              </a:ext>
            </a:extLst>
          </p:cNvPr>
          <p:cNvSpPr>
            <a:spLocks noGrp="1"/>
          </p:cNvSpPr>
          <p:nvPr>
            <p:ph idx="1"/>
          </p:nvPr>
        </p:nvSpPr>
        <p:spPr/>
        <p:txBody>
          <a:bodyPr/>
          <a:lstStyle/>
          <a:p>
            <a:r>
              <a:rPr lang="en-DK" dirty="0"/>
              <a:t>If a worker returning minerals arrives at the depot on the exact frame its order process timer is 0, it will maintain some of its speed during the transition to MoveToMinerals</a:t>
            </a:r>
          </a:p>
          <a:p>
            <a:r>
              <a:rPr lang="en-DK" dirty="0"/>
              <a:t>For workers delivering to the center of the depot, this is usually a bad thing, as the added speed makes collision almost certain</a:t>
            </a:r>
          </a:p>
          <a:p>
            <a:r>
              <a:rPr lang="en-DK" dirty="0"/>
              <a:t>For workers delivering to a corner of the depot, it often allows the worker to maintain speed and reach the patch again much more quickly</a:t>
            </a:r>
          </a:p>
        </p:txBody>
      </p:sp>
    </p:spTree>
    <p:extLst>
      <p:ext uri="{BB962C8B-B14F-4D97-AF65-F5344CB8AC3E}">
        <p14:creationId xmlns:p14="http://schemas.microsoft.com/office/powerpoint/2010/main" val="2265454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EDA60-82DB-BF06-4806-BBAEB2294DBC}"/>
              </a:ext>
            </a:extLst>
          </p:cNvPr>
          <p:cNvSpPr>
            <a:spLocks noGrp="1"/>
          </p:cNvSpPr>
          <p:nvPr>
            <p:ph type="title"/>
          </p:nvPr>
        </p:nvSpPr>
        <p:spPr/>
        <p:txBody>
          <a:bodyPr/>
          <a:lstStyle/>
          <a:p>
            <a:r>
              <a:rPr lang="en-DK" dirty="0"/>
              <a:t>Taking over mining from another worker</a:t>
            </a:r>
          </a:p>
        </p:txBody>
      </p:sp>
      <p:sp>
        <p:nvSpPr>
          <p:cNvPr id="3" name="Content Placeholder 2">
            <a:extLst>
              <a:ext uri="{FF2B5EF4-FFF2-40B4-BE49-F238E27FC236}">
                <a16:creationId xmlns:a16="http://schemas.microsoft.com/office/drawing/2014/main" id="{825D4C55-3B50-944C-C2A7-DA8D4DBADAA8}"/>
              </a:ext>
            </a:extLst>
          </p:cNvPr>
          <p:cNvSpPr>
            <a:spLocks noGrp="1"/>
          </p:cNvSpPr>
          <p:nvPr>
            <p:ph idx="1"/>
          </p:nvPr>
        </p:nvSpPr>
        <p:spPr/>
        <p:txBody>
          <a:bodyPr/>
          <a:lstStyle/>
          <a:p>
            <a:r>
              <a:rPr lang="en-DK" dirty="0"/>
              <a:t>While in MoveToMinerals, once the worker is 10 pixels or less from the patch, it will try to find another available patch (within an 8 tile search radius) if its current target is already occupied</a:t>
            </a:r>
          </a:p>
          <a:p>
            <a:r>
              <a:rPr lang="en-DK" dirty="0"/>
              <a:t>If it finds another available patch, it switches to it and paths towards it</a:t>
            </a:r>
          </a:p>
          <a:p>
            <a:r>
              <a:rPr lang="en-DK" dirty="0"/>
              <a:t>If not, the worker becomes locked to its current target patch and will not try to switch again</a:t>
            </a:r>
          </a:p>
        </p:txBody>
      </p:sp>
    </p:spTree>
    <p:extLst>
      <p:ext uri="{BB962C8B-B14F-4D97-AF65-F5344CB8AC3E}">
        <p14:creationId xmlns:p14="http://schemas.microsoft.com/office/powerpoint/2010/main" val="1044787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70C22-966F-DBFF-D70B-79523799E114}"/>
              </a:ext>
            </a:extLst>
          </p:cNvPr>
          <p:cNvSpPr>
            <a:spLocks noGrp="1"/>
          </p:cNvSpPr>
          <p:nvPr>
            <p:ph type="title"/>
          </p:nvPr>
        </p:nvSpPr>
        <p:spPr/>
        <p:txBody>
          <a:bodyPr/>
          <a:lstStyle/>
          <a:p>
            <a:r>
              <a:rPr lang="en-DK" dirty="0"/>
              <a:t>Taking over: normal transition</a:t>
            </a:r>
          </a:p>
        </p:txBody>
      </p:sp>
      <p:sp>
        <p:nvSpPr>
          <p:cNvPr id="3" name="Content Placeholder 2">
            <a:extLst>
              <a:ext uri="{FF2B5EF4-FFF2-40B4-BE49-F238E27FC236}">
                <a16:creationId xmlns:a16="http://schemas.microsoft.com/office/drawing/2014/main" id="{15E639C4-BB1B-69B8-190F-8ABCE3366410}"/>
              </a:ext>
            </a:extLst>
          </p:cNvPr>
          <p:cNvSpPr>
            <a:spLocks noGrp="1"/>
          </p:cNvSpPr>
          <p:nvPr>
            <p:ph idx="1"/>
          </p:nvPr>
        </p:nvSpPr>
        <p:spPr/>
        <p:txBody>
          <a:bodyPr/>
          <a:lstStyle/>
          <a:p>
            <a:r>
              <a:rPr lang="en-DK" dirty="0"/>
              <a:t>The patch is marked as available when the mining worker transitions to the ResetHarvestCollision</a:t>
            </a:r>
          </a:p>
          <a:p>
            <a:r>
              <a:rPr lang="en-DK" dirty="0"/>
              <a:t>Whether the taking over worker can transition to WaitForMinerals on this frame depends on which worker has its orders processed first</a:t>
            </a:r>
          </a:p>
          <a:p>
            <a:r>
              <a:rPr lang="en-DK" dirty="0"/>
              <a:t>BW iterates over the units in the visible units list from most-recently-added to least-recently-added, so generally the worker that most recently became visible will have its orders processed first</a:t>
            </a:r>
          </a:p>
        </p:txBody>
      </p:sp>
    </p:spTree>
    <p:extLst>
      <p:ext uri="{BB962C8B-B14F-4D97-AF65-F5344CB8AC3E}">
        <p14:creationId xmlns:p14="http://schemas.microsoft.com/office/powerpoint/2010/main" val="316011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67D15-F1DD-C671-D5AC-0014B41ACF5A}"/>
              </a:ext>
            </a:extLst>
          </p:cNvPr>
          <p:cNvSpPr>
            <a:spLocks noGrp="1"/>
          </p:cNvSpPr>
          <p:nvPr>
            <p:ph type="title"/>
          </p:nvPr>
        </p:nvSpPr>
        <p:spPr/>
        <p:txBody>
          <a:bodyPr/>
          <a:lstStyle/>
          <a:p>
            <a:r>
              <a:rPr lang="en-DK" dirty="0"/>
              <a:t>Taking over: patch lock</a:t>
            </a:r>
          </a:p>
        </p:txBody>
      </p:sp>
      <p:sp>
        <p:nvSpPr>
          <p:cNvPr id="3" name="Content Placeholder 2">
            <a:extLst>
              <a:ext uri="{FF2B5EF4-FFF2-40B4-BE49-F238E27FC236}">
                <a16:creationId xmlns:a16="http://schemas.microsoft.com/office/drawing/2014/main" id="{506C7E8F-0B51-55E0-C039-B7471999B99B}"/>
              </a:ext>
            </a:extLst>
          </p:cNvPr>
          <p:cNvSpPr>
            <a:spLocks noGrp="1"/>
          </p:cNvSpPr>
          <p:nvPr>
            <p:ph idx="1"/>
          </p:nvPr>
        </p:nvSpPr>
        <p:spPr/>
        <p:txBody>
          <a:bodyPr/>
          <a:lstStyle/>
          <a:p>
            <a:r>
              <a:rPr lang="en-DK" dirty="0"/>
              <a:t>If the taking over worker locks to the patch (i.e. it tried to switch patches, but no others were available), it is added to a queue of workers waiting to mine from the patch</a:t>
            </a:r>
          </a:p>
          <a:p>
            <a:pPr lvl="1"/>
            <a:r>
              <a:rPr lang="en-DK" dirty="0"/>
              <a:t>Internally, BW stores this as a list on the patch unit</a:t>
            </a:r>
          </a:p>
          <a:p>
            <a:r>
              <a:rPr lang="en-DK" dirty="0"/>
              <a:t>When the mining worker transitions to ResetHarvestCollision, it checks for a pending worker on the patch’s list, and if so, transitions it to MiningMinerals</a:t>
            </a:r>
          </a:p>
          <a:p>
            <a:pPr lvl="1"/>
            <a:r>
              <a:rPr lang="en-DK" dirty="0"/>
              <a:t>As this happens as part of the mining worker’s order processing, the taking over worker’s order process timer and relative position in the visible units list are irrelevant</a:t>
            </a:r>
          </a:p>
        </p:txBody>
      </p:sp>
    </p:spTree>
    <p:extLst>
      <p:ext uri="{BB962C8B-B14F-4D97-AF65-F5344CB8AC3E}">
        <p14:creationId xmlns:p14="http://schemas.microsoft.com/office/powerpoint/2010/main" val="783102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4D6B5-F905-4C4D-77BA-EC650106C5B9}"/>
              </a:ext>
            </a:extLst>
          </p:cNvPr>
          <p:cNvSpPr>
            <a:spLocks noGrp="1"/>
          </p:cNvSpPr>
          <p:nvPr>
            <p:ph type="title"/>
          </p:nvPr>
        </p:nvSpPr>
        <p:spPr/>
        <p:txBody>
          <a:bodyPr/>
          <a:lstStyle/>
          <a:p>
            <a:r>
              <a:rPr lang="en-DK" dirty="0"/>
              <a:t>Putting it all together</a:t>
            </a:r>
          </a:p>
        </p:txBody>
      </p:sp>
      <p:sp>
        <p:nvSpPr>
          <p:cNvPr id="3" name="Content Placeholder 2">
            <a:extLst>
              <a:ext uri="{FF2B5EF4-FFF2-40B4-BE49-F238E27FC236}">
                <a16:creationId xmlns:a16="http://schemas.microsoft.com/office/drawing/2014/main" id="{719E86BA-5F2A-0447-567B-FE1B486E4766}"/>
              </a:ext>
            </a:extLst>
          </p:cNvPr>
          <p:cNvSpPr>
            <a:spLocks noGrp="1"/>
          </p:cNvSpPr>
          <p:nvPr>
            <p:ph idx="1"/>
          </p:nvPr>
        </p:nvSpPr>
        <p:spPr/>
        <p:txBody>
          <a:bodyPr/>
          <a:lstStyle/>
          <a:p>
            <a:r>
              <a:rPr lang="en-DK" dirty="0"/>
              <a:t>For most efficient mining, a bot should:</a:t>
            </a:r>
          </a:p>
          <a:p>
            <a:pPr lvl="1"/>
            <a:r>
              <a:rPr lang="en-DK" dirty="0"/>
              <a:t>Optimize the order process timer when arriving at the patch and depot</a:t>
            </a:r>
          </a:p>
          <a:p>
            <a:pPr lvl="1"/>
            <a:r>
              <a:rPr lang="en-DK" dirty="0"/>
              <a:t>Mitigate the impact of order process timer resets wherever possible</a:t>
            </a:r>
          </a:p>
          <a:p>
            <a:pPr lvl="1"/>
            <a:r>
              <a:rPr lang="en-DK" dirty="0"/>
              <a:t>Resend at positions that give shorter paths and fewer collisions (and maintain speed on return)</a:t>
            </a:r>
          </a:p>
          <a:p>
            <a:pPr lvl="1"/>
            <a:r>
              <a:rPr lang="en-DK" dirty="0"/>
              <a:t>Try to patch lock as much as possible on takeover</a:t>
            </a:r>
          </a:p>
          <a:p>
            <a:pPr lvl="1"/>
            <a:endParaRPr lang="en-DK" dirty="0"/>
          </a:p>
        </p:txBody>
      </p:sp>
    </p:spTree>
    <p:extLst>
      <p:ext uri="{BB962C8B-B14F-4D97-AF65-F5344CB8AC3E}">
        <p14:creationId xmlns:p14="http://schemas.microsoft.com/office/powerpoint/2010/main" val="199410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93589-8B0B-64F3-C6D9-739141CF4648}"/>
              </a:ext>
            </a:extLst>
          </p:cNvPr>
          <p:cNvSpPr>
            <a:spLocks noGrp="1"/>
          </p:cNvSpPr>
          <p:nvPr>
            <p:ph type="title"/>
          </p:nvPr>
        </p:nvSpPr>
        <p:spPr/>
        <p:txBody>
          <a:bodyPr/>
          <a:lstStyle/>
          <a:p>
            <a:r>
              <a:rPr lang="en-DK" dirty="0"/>
              <a:t>Predicting order process timer reset values</a:t>
            </a:r>
          </a:p>
        </p:txBody>
      </p:sp>
      <p:sp>
        <p:nvSpPr>
          <p:cNvPr id="3" name="Content Placeholder 2">
            <a:extLst>
              <a:ext uri="{FF2B5EF4-FFF2-40B4-BE49-F238E27FC236}">
                <a16:creationId xmlns:a16="http://schemas.microsoft.com/office/drawing/2014/main" id="{E05715B0-2144-1A21-E12F-D8BD9AB94775}"/>
              </a:ext>
            </a:extLst>
          </p:cNvPr>
          <p:cNvSpPr>
            <a:spLocks noGrp="1"/>
          </p:cNvSpPr>
          <p:nvPr>
            <p:ph idx="1"/>
          </p:nvPr>
        </p:nvSpPr>
        <p:spPr/>
        <p:txBody>
          <a:bodyPr>
            <a:normAutofit/>
          </a:bodyPr>
          <a:lstStyle/>
          <a:p>
            <a:r>
              <a:rPr lang="en-DK" dirty="0"/>
              <a:t>The order process timers are not reset using RNG; the BW engine just iterates through the visible unit list and gives each a new value</a:t>
            </a:r>
          </a:p>
          <a:p>
            <a:pPr lvl="1"/>
            <a:r>
              <a:rPr lang="en-DK" dirty="0"/>
              <a:t>The first unit gets 0, next gets 1, etc., looping back to 0 after 7</a:t>
            </a:r>
          </a:p>
          <a:p>
            <a:r>
              <a:rPr lang="en-DK" dirty="0"/>
              <a:t>We generally know the relative position of our own units in the visible unit list, but the visible unit list contains all units in the game, not just our own</a:t>
            </a:r>
          </a:p>
          <a:p>
            <a:r>
              <a:rPr lang="en-DK" dirty="0"/>
              <a:t>This means that once we observe what some of our units had their order process timers reset to, we can probably make some educated guesses about what other units got, but it would never be fully reliable</a:t>
            </a:r>
          </a:p>
        </p:txBody>
      </p:sp>
    </p:spTree>
    <p:extLst>
      <p:ext uri="{BB962C8B-B14F-4D97-AF65-F5344CB8AC3E}">
        <p14:creationId xmlns:p14="http://schemas.microsoft.com/office/powerpoint/2010/main" val="2329609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83F79-124B-34E2-D15F-DDEE7D4FFEDC}"/>
              </a:ext>
            </a:extLst>
          </p:cNvPr>
          <p:cNvSpPr>
            <a:spLocks noGrp="1"/>
          </p:cNvSpPr>
          <p:nvPr>
            <p:ph type="title"/>
          </p:nvPr>
        </p:nvSpPr>
        <p:spPr/>
        <p:txBody>
          <a:bodyPr/>
          <a:lstStyle/>
          <a:p>
            <a:r>
              <a:rPr lang="en-DK" dirty="0"/>
              <a:t>Predicting order process timer reset values</a:t>
            </a:r>
          </a:p>
        </p:txBody>
      </p:sp>
      <p:sp>
        <p:nvSpPr>
          <p:cNvPr id="3" name="Content Placeholder 2">
            <a:extLst>
              <a:ext uri="{FF2B5EF4-FFF2-40B4-BE49-F238E27FC236}">
                <a16:creationId xmlns:a16="http://schemas.microsoft.com/office/drawing/2014/main" id="{256E83A5-0E12-C491-C746-E3A87FCBF845}"/>
              </a:ext>
            </a:extLst>
          </p:cNvPr>
          <p:cNvSpPr>
            <a:spLocks noGrp="1"/>
          </p:cNvSpPr>
          <p:nvPr>
            <p:ph idx="1"/>
          </p:nvPr>
        </p:nvSpPr>
        <p:spPr/>
        <p:txBody>
          <a:bodyPr/>
          <a:lstStyle/>
          <a:p>
            <a:r>
              <a:rPr lang="en-DK" dirty="0"/>
              <a:t>One exception to this is the first two resets of the game, where we can generally assume the visible unit list is constant</a:t>
            </a:r>
          </a:p>
          <a:p>
            <a:r>
              <a:rPr lang="en-DK" dirty="0"/>
              <a:t>The order process timer values our initial workers get after the first two resets therefore only depend on two things:</a:t>
            </a:r>
          </a:p>
          <a:p>
            <a:pPr lvl="1"/>
            <a:r>
              <a:rPr lang="en-DK" dirty="0"/>
              <a:t>Whether the opponent is Zerg or not (which impacts how many enemy units are in the visible units list)</a:t>
            </a:r>
          </a:p>
          <a:p>
            <a:pPr lvl="1"/>
            <a:r>
              <a:rPr lang="en-DK" dirty="0"/>
              <a:t>Which of our start position and the enemy’s start position has their units added to the visible units list first</a:t>
            </a:r>
          </a:p>
          <a:p>
            <a:r>
              <a:rPr lang="en-DK" dirty="0"/>
              <a:t>This can be useful in planning the initial worker split</a:t>
            </a:r>
          </a:p>
        </p:txBody>
      </p:sp>
    </p:spTree>
    <p:extLst>
      <p:ext uri="{BB962C8B-B14F-4D97-AF65-F5344CB8AC3E}">
        <p14:creationId xmlns:p14="http://schemas.microsoft.com/office/powerpoint/2010/main" val="9793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B0A6F-B4BB-3C96-B77C-22DDB15BD528}"/>
              </a:ext>
            </a:extLst>
          </p:cNvPr>
          <p:cNvSpPr>
            <a:spLocks noGrp="1"/>
          </p:cNvSpPr>
          <p:nvPr>
            <p:ph type="title"/>
          </p:nvPr>
        </p:nvSpPr>
        <p:spPr/>
        <p:txBody>
          <a:bodyPr/>
          <a:lstStyle/>
          <a:p>
            <a:r>
              <a:rPr lang="en-DK" dirty="0"/>
              <a:t>What about gas?</a:t>
            </a:r>
          </a:p>
        </p:txBody>
      </p:sp>
      <p:sp>
        <p:nvSpPr>
          <p:cNvPr id="3" name="Content Placeholder 2">
            <a:extLst>
              <a:ext uri="{FF2B5EF4-FFF2-40B4-BE49-F238E27FC236}">
                <a16:creationId xmlns:a16="http://schemas.microsoft.com/office/drawing/2014/main" id="{1B1FDB8F-E11B-C6AD-F678-43D4802F4A9A}"/>
              </a:ext>
            </a:extLst>
          </p:cNvPr>
          <p:cNvSpPr>
            <a:spLocks noGrp="1"/>
          </p:cNvSpPr>
          <p:nvPr>
            <p:ph idx="1"/>
          </p:nvPr>
        </p:nvSpPr>
        <p:spPr/>
        <p:txBody>
          <a:bodyPr>
            <a:normAutofit fontScale="92500" lnSpcReduction="10000"/>
          </a:bodyPr>
          <a:lstStyle/>
          <a:p>
            <a:r>
              <a:rPr lang="en-DK" dirty="0"/>
              <a:t>Gas collection (waiting and harvesting) updates every frame regardless of the worker order process timers</a:t>
            </a:r>
          </a:p>
          <a:p>
            <a:r>
              <a:rPr lang="en-DK" dirty="0"/>
              <a:t>The available optimizations are therefore:</a:t>
            </a:r>
          </a:p>
          <a:p>
            <a:pPr lvl="1"/>
            <a:r>
              <a:rPr lang="en-DK" dirty="0"/>
              <a:t>Getting on a faster path to the geyser</a:t>
            </a:r>
          </a:p>
          <a:p>
            <a:pPr lvl="1"/>
            <a:r>
              <a:rPr lang="en-DK" dirty="0"/>
              <a:t>Getting on a faster path to the depot and optimizing the order process timer (and potentially maintaining speed after delivery)</a:t>
            </a:r>
          </a:p>
          <a:p>
            <a:r>
              <a:rPr lang="en-DK" dirty="0"/>
              <a:t>I haven’t investigated this in any detail, but my hypothesis is that:</a:t>
            </a:r>
          </a:p>
          <a:p>
            <a:pPr lvl="1"/>
            <a:r>
              <a:rPr lang="en-DK" dirty="0"/>
              <a:t>All geysers will still need at least 3 workers for full saturation</a:t>
            </a:r>
          </a:p>
          <a:p>
            <a:pPr lvl="1"/>
            <a:r>
              <a:rPr lang="en-DK" dirty="0"/>
              <a:t>Geysers located below the depot can get full saturation with 3 workers instead of 4</a:t>
            </a:r>
          </a:p>
          <a:p>
            <a:pPr lvl="1"/>
            <a:r>
              <a:rPr lang="en-DK" dirty="0"/>
              <a:t>With only 1 or 2 workers on gas, income will be higher with optimization than without</a:t>
            </a:r>
          </a:p>
        </p:txBody>
      </p:sp>
    </p:spTree>
    <p:extLst>
      <p:ext uri="{BB962C8B-B14F-4D97-AF65-F5344CB8AC3E}">
        <p14:creationId xmlns:p14="http://schemas.microsoft.com/office/powerpoint/2010/main" val="26328184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5682</TotalTime>
  <Words>1467</Words>
  <Application>Microsoft Macintosh PowerPoint</Application>
  <PresentationFormat>Widescreen</PresentationFormat>
  <Paragraphs>103</Paragraphs>
  <Slides>16</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Optimized Mineral Mining in StarCraft: Brood War</vt:lpstr>
      <vt:lpstr>Normal order transitions</vt:lpstr>
      <vt:lpstr>Order process timer</vt:lpstr>
      <vt:lpstr>Order process timer resets</vt:lpstr>
      <vt:lpstr>Resending a gather command</vt:lpstr>
      <vt:lpstr>Resending a return command</vt:lpstr>
      <vt:lpstr>Subpixel positions</vt:lpstr>
      <vt:lpstr>Collision with patch or depot</vt:lpstr>
      <vt:lpstr>Carrying speed on return</vt:lpstr>
      <vt:lpstr>Taking over mining from another worker</vt:lpstr>
      <vt:lpstr>Taking over: normal transition</vt:lpstr>
      <vt:lpstr>Taking over: patch lock</vt:lpstr>
      <vt:lpstr>Putting it all together</vt:lpstr>
      <vt:lpstr>Predicting order process timer reset values</vt:lpstr>
      <vt:lpstr>Predicting order process timer reset values</vt:lpstr>
      <vt:lpstr>What about gas?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Bruce Mackenzie Nielsen</dc:creator>
  <cp:lastModifiedBy>Bruce Mackenzie Nielsen</cp:lastModifiedBy>
  <cp:revision>2</cp:revision>
  <dcterms:created xsi:type="dcterms:W3CDTF">2026-06-19T11:42:21Z</dcterms:created>
  <dcterms:modified xsi:type="dcterms:W3CDTF">2026-06-23T11:43:31Z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1bba39d-4745-4e9d-97db-0c1927b54242_Enabled">
    <vt:lpwstr>true</vt:lpwstr>
  </property>
  <property fmtid="{D5CDD505-2E9C-101B-9397-08002B2CF9AE}" pid="3" name="MSIP_Label_71bba39d-4745-4e9d-97db-0c1927b54242_SetDate">
    <vt:lpwstr>2026-06-19T13:00:59Z</vt:lpwstr>
  </property>
  <property fmtid="{D5CDD505-2E9C-101B-9397-08002B2CF9AE}" pid="4" name="MSIP_Label_71bba39d-4745-4e9d-97db-0c1927b54242_Method">
    <vt:lpwstr>Privileged</vt:lpwstr>
  </property>
  <property fmtid="{D5CDD505-2E9C-101B-9397-08002B2CF9AE}" pid="5" name="MSIP_Label_71bba39d-4745-4e9d-97db-0c1927b54242_Name">
    <vt:lpwstr>Internal</vt:lpwstr>
  </property>
  <property fmtid="{D5CDD505-2E9C-101B-9397-08002B2CF9AE}" pid="6" name="MSIP_Label_71bba39d-4745-4e9d-97db-0c1927b54242_SiteId">
    <vt:lpwstr>05d75c05-fa1a-42e7-9cf1-eb416c396f2d</vt:lpwstr>
  </property>
  <property fmtid="{D5CDD505-2E9C-101B-9397-08002B2CF9AE}" pid="7" name="MSIP_Label_71bba39d-4745-4e9d-97db-0c1927b54242_ActionId">
    <vt:lpwstr>358fd24d-28f3-4e21-be97-0379220113a7</vt:lpwstr>
  </property>
  <property fmtid="{D5CDD505-2E9C-101B-9397-08002B2CF9AE}" pid="8" name="MSIP_Label_71bba39d-4745-4e9d-97db-0c1927b54242_ContentBits">
    <vt:lpwstr>2</vt:lpwstr>
  </property>
  <property fmtid="{D5CDD505-2E9C-101B-9397-08002B2CF9AE}" pid="9" name="MSIP_Label_71bba39d-4745-4e9d-97db-0c1927b54242_Tag">
    <vt:lpwstr>50, 0, 1, 1</vt:lpwstr>
  </property>
  <property fmtid="{D5CDD505-2E9C-101B-9397-08002B2CF9AE}" pid="10" name="ClassificationContentMarkingFooterLocations">
    <vt:lpwstr>Office Theme:8</vt:lpwstr>
  </property>
  <property fmtid="{D5CDD505-2E9C-101B-9397-08002B2CF9AE}" pid="11" name="ClassificationContentMarkingFooterText">
    <vt:lpwstr>Classification: Internal</vt:lpwstr>
  </property>
</Properties>
</file>